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今天不做运维培训，也不展开宏大的市场预测。我们讨论厂商真正关心的问题：当设备在欧洲运行时，谁能以清楚的技术边界、可靠的现场执行和可复核的证据，把服务承诺交付出来。</a:t>
            </a:r>
          </a:p>
          <a:p>
            <a:endParaRPr lang="zh-CN" dirty="0"/>
          </a:p>
          <a:p>
            <a:r>
              <a:rPr lang="zh-CN" dirty="0"/>
              <a:t>证据与口径：—。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这是一项业务判断，而非基于新增装机统计作出的结论。项目并网之后仍会面对运行条件变化、版本和参数调整、质保期服务与设备维护。对厂商而言，本地执行能力应被视为持续交付的一部分。</a:t>
            </a:r>
          </a:p>
          <a:p>
            <a:endParaRPr lang="zh-CN" dirty="0"/>
          </a:p>
          <a:p>
            <a:r>
              <a:rPr lang="zh-CN" dirty="0"/>
              <a:t>证据与口径：综合判断；公司PDF第15—17页服务语境。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一个告警往往跨过几种工作状态：远程工程师有判断，但现场需要人员、工具和授权；备件在欧洲，却未必型号匹配或能进入站点；设备重启后，还需要证明恢复结果。真正要管理的是这些断点。</a:t>
            </a:r>
          </a:p>
          <a:p>
            <a:endParaRPr lang="zh-CN" dirty="0"/>
          </a:p>
          <a:p>
            <a:r>
              <a:rPr lang="zh-CN" dirty="0"/>
              <a:t>证据与口径：公司PDF第13、16、17、19页；建议分析。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请不要把四个色段看成真实耗时比例。我们强调的是总恢复周期的组成：技术处置可能只占一段，其他等待也有改善空间。后续可用工单时间戳把概念图替换成真实项目时间组成。</a:t>
            </a:r>
          </a:p>
          <a:p>
            <a:endParaRPr lang="zh-CN" dirty="0"/>
          </a:p>
          <a:p>
            <a:r>
              <a:rPr lang="zh-CN" dirty="0"/>
              <a:t>证据与口径：建议分析，非实测模型。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建议与厂商共同定义服务窗口和排除项，再计算指标。技术可用率的分母、外部电网或调度原因是否排除、恢复时刻如何验收，都直接影响结果。没有统一口径的百分比不能用于比较服务商。</a:t>
            </a:r>
          </a:p>
          <a:p>
            <a:endParaRPr lang="zh-CN" dirty="0"/>
          </a:p>
          <a:p>
            <a:r>
              <a:rPr lang="zh-CN" dirty="0"/>
              <a:t>证据与口径：建议指标口径，实际数据待补充。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公司资料明确写到2024年创立历橙，聚焦后市场；2012年入局储能、2018年海外经验属于团队经历的叙述。我们不把团队经历等同于公司存续时间，也不引用未经证明的排名来背书。</a:t>
            </a:r>
          </a:p>
          <a:p>
            <a:endParaRPr lang="zh-CN" dirty="0"/>
          </a:p>
          <a:p>
            <a:r>
              <a:rPr lang="zh-CN" dirty="0"/>
              <a:t>证据与口径：公司PDF第1、9、10页。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8000平方米和吊装转运设备均来自公司提供的材料。本页用实体资源解释本地化价值，但不把面积等同于即时交付能力。正式合作仍应核验设备清单、库存、工位、人员排期和客户准入。</a:t>
            </a:r>
          </a:p>
          <a:p>
            <a:endParaRPr lang="zh-CN" dirty="0"/>
          </a:p>
          <a:p>
            <a:r>
              <a:rPr lang="zh-CN" dirty="0"/>
              <a:t>证据与口径：公司PDF第14、19、20页。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原稿还列有斯洛文尼亚、克罗地亚、塞尔维亚、波黑等8—24小时区域，以及黑山、阿尔巴尼亚、北马其顿、摩尔多瓦等24—48小时区域。48—72小时包含葡萄牙、爱尔兰、比利时、卢森堡、丹麦、瑞典、芬兰、爱沙尼亚、拉脱维亚、立陶宛、希腊、塞浦路斯、马耳他、挪威、冰岛等。此页仅摘列代表区域；原稿时效起点未说明，不能直接做违约责任标准。</a:t>
            </a:r>
          </a:p>
          <a:p>
            <a:endParaRPr lang="zh-CN" dirty="0"/>
          </a:p>
          <a:p>
            <a:r>
              <a:rPr lang="zh-CN" dirty="0"/>
              <a:t>证据与口径：公司PDF第13页。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这里不是把所有服务都放进同一合同，而是为厂商选择交付结果。一个专项可能只需要调试支持，另一个项目需要区域现场响应。技术变更、质保判断和安全审批应保留在明确的授权链中。</a:t>
            </a:r>
          </a:p>
          <a:p>
            <a:endParaRPr lang="zh-CN" dirty="0"/>
          </a:p>
          <a:p>
            <a:r>
              <a:rPr lang="zh-CN" dirty="0"/>
              <a:t>证据与口径：公司PDF第15—17、21页。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以测试为例，记录必须能回答：测试对象和版本是什么、当时的工况和条件是什么、结果是否满足约定、谁确认了结论。清除告警或完成通电本身不等于长期稳定性验证。</a:t>
            </a:r>
          </a:p>
          <a:p>
            <a:endParaRPr lang="zh-CN" dirty="0"/>
          </a:p>
          <a:p>
            <a:r>
              <a:rPr lang="zh-CN" dirty="0"/>
              <a:t>证据与口径：公司PDF第16、17页。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远程支持的关键是带着可验证的假设组织现场工作。把必需的备件、工具、技能和验证条件提前明确，有助于减少无效到场。真实首访修复率和重复到场改善目前没有资料支持，不给出数值承诺。</a:t>
            </a:r>
          </a:p>
          <a:p>
            <a:endParaRPr lang="zh-CN" dirty="0"/>
          </a:p>
          <a:p>
            <a:r>
              <a:rPr lang="zh-CN" dirty="0"/>
              <a:t>证据与口径：公司PDF第15、17、22页；建议分析。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预防性维护应以风险影响和执行条件决定先后。热管理、辅助供电、通信、控制、连接与环境共同影响系统可用性，不把某一设备维护孤立成章节。具体操作仍服从厂商规程和现场安全制度。</a:t>
            </a:r>
          </a:p>
          <a:p>
            <a:endParaRPr lang="zh-CN" dirty="0"/>
          </a:p>
          <a:p>
            <a:r>
              <a:rPr lang="zh-CN" dirty="0"/>
              <a:t>证据与口径：公司PDF第17页；建议分析。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300+是公司原稿披露的PCS模块维修服务数量，并非我们已审计的合格模块数量，也不能推导返修率。建议后续补充统计期间、去重方法、故障类型、测试标准、修复周期与验收记录。</a:t>
            </a:r>
          </a:p>
          <a:p>
            <a:endParaRPr lang="zh-CN" dirty="0"/>
          </a:p>
          <a:p>
            <a:r>
              <a:rPr lang="zh-CN" dirty="0"/>
              <a:t>证据与口径：公司PDF第19、21、31页。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1000+储能项目实证和18省覆盖来自原稿，统计期是2025年6月至2026年6月。其定义可能包含重复服务，需要进一步澄清。国内经验可为欧洲提供技术纵深，但欧洲服务表现必须用欧洲工单验证。</a:t>
            </a:r>
          </a:p>
          <a:p>
            <a:endParaRPr lang="zh-CN" dirty="0"/>
          </a:p>
          <a:p>
            <a:r>
              <a:rPr lang="zh-CN" dirty="0"/>
              <a:t>证据与口径：公司PDF第27页。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该案例保留原稿所载项目类型和100MWh能量容量。原稿列出变压器系统诊断调试、PCS校验与通电、安规测试与功能验证。尚无服务时间、业主授权、验收记录或工期改善数据，因此只讲清做了什么，不把目标效果写成已验证成果。</a:t>
            </a:r>
          </a:p>
          <a:p>
            <a:endParaRPr lang="zh-CN" dirty="0"/>
          </a:p>
          <a:p>
            <a:r>
              <a:rPr lang="zh-CN" dirty="0"/>
              <a:t>证据与口径：公司PDF第30页。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项目按原稿第29页从左到右对应。保加利亚是液冷系统专项维护，波兰对应设备维护及柜体结构修复，荷兰对应PCS诊断、模块更换与调试。原稿20+场站的范围尚未澄清，不写成波兰单项目站点数；三个项目均需要补充验收或前后对照数据。</a:t>
            </a:r>
          </a:p>
          <a:p>
            <a:endParaRPr lang="zh-CN" dirty="0"/>
          </a:p>
          <a:p>
            <a:r>
              <a:rPr lang="zh-CN" dirty="0"/>
              <a:t>证据与口径：公司PDF第29页。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公司资料描述了工单、报告、数据和诊断能力，但没有提供小程序截图或上线证据。因此这一页是方案建议。小程序的重点不是取代现有厂商平台，而是让现场动作和证据容易记录、授权和检索，减少重复沟通。</a:t>
            </a:r>
          </a:p>
          <a:p>
            <a:endParaRPr lang="zh-CN" dirty="0"/>
          </a:p>
          <a:p>
            <a:r>
              <a:rPr lang="zh-CN" dirty="0"/>
              <a:t>证据与口径：公司PDF第17、24页；建议方案。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我们将AI限定为辅助判断和知识工作：发现异常趋势，检索相似案例，组织工单和复盘内容。它不应自动执行设备控制，更不能替代工程师对安全和技术方案的审核。是否有价值，要用真实工单和受控试点验证。</a:t>
            </a:r>
          </a:p>
          <a:p>
            <a:endParaRPr lang="zh-CN" dirty="0"/>
          </a:p>
          <a:p>
            <a:r>
              <a:rPr lang="zh-CN" dirty="0"/>
              <a:t>证据与口径：公司PDF第23、24页；建议方案。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合作范围可从一个明确的国家、设备型号和故障场景开始。双方先约定服务窗口、权限、现场准入、验收条件、排除项和基线。以试点检验到场、恢复和证据完整性，再讨论持续服务范围。</a:t>
            </a:r>
          </a:p>
          <a:p>
            <a:endParaRPr lang="zh-CN" dirty="0"/>
          </a:p>
          <a:p>
            <a:r>
              <a:rPr lang="zh-CN" dirty="0"/>
              <a:t>证据与口径：建议合作范围，非现有合同承诺。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结束时不追加夸大的承诺。希望与设备厂商确定一个具体欧洲服务试点：在哪里、什么设备、最关键的问题是什么，以及如何用双方认可的指标证明交付结果。联系方式和演讲者信息可在确认后补入。</a:t>
            </a:r>
          </a:p>
          <a:p>
            <a:endParaRPr lang="zh-CN" dirty="0"/>
          </a:p>
          <a:p>
            <a:r>
              <a:rPr lang="zh-CN" dirty="0"/>
              <a:t>证据与口径：建议合作讨论。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image" Target="../media/image_b6988a528658a21f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b6988a528658a21f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2ef110ae770aa11c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1b779ff2df229072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cff0c5995094051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2195bb073e3b24dc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cc43203838cad9c2.jpg"/><Relationship Id="rId3" Type="http://schemas.openxmlformats.org/officeDocument/2006/relationships/image" Target="../media/image_3144a8716a76eba4.jpg"/><Relationship Id="rId4" Type="http://schemas.openxmlformats.org/officeDocument/2006/relationships/image" Target="../media/image_47b975d1dbb44e4f.jp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C3A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5" name="Group 5"/>
          <p:cNvGrpSpPr/>
          <p:nvPr/>
        </p:nvGrpSpPr>
        <p:grpSpPr>
          <a:xfrm>
            <a:off x="609600" y="438150"/>
            <a:ext cx="1371600" cy="590550"/>
            <a:chOff x="609600" y="438150"/>
            <a:chExt cx="1371600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38150"/>
              <a:ext cx="137160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850" y="504825"/>
              <a:ext cx="1181100" cy="4572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7052310" y="2095500"/>
            <a:ext cx="4530090" cy="3333750"/>
            <a:chOff x="7052310" y="2095500"/>
            <a:chExt cx="4530090" cy="333375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67550" y="2095500"/>
              <a:ext cx="4514850" cy="2543175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7067550" y="4638675"/>
              <a:ext cx="4514850" cy="57150"/>
            </a:xfrm>
            <a:prstGeom prst="rect">
              <a:avLst/>
            </a:prstGeom>
            <a:solidFill>
              <a:srgbClr val="F58A24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7052310" y="4918710"/>
              <a:ext cx="21255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欧洲运营中心 · 原稿实景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52310" y="5185410"/>
              <a:ext cx="29024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本地执行能力，连接设备与长期运营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41020" y="1584960"/>
            <a:ext cx="3609975" cy="3734752"/>
            <a:chOff x="541020" y="1584960"/>
            <a:chExt cx="3609975" cy="3734752"/>
          </a:xfrm>
        </p:grpSpPr>
        <p:sp>
          <p:nvSpPr>
            <p:cNvPr id="11" name="TextBox 11"/>
            <p:cNvSpPr txBox="1"/>
            <p:nvPr/>
          </p:nvSpPr>
          <p:spPr>
            <a:xfrm>
              <a:off x="594360" y="1584960"/>
              <a:ext cx="27478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58A24"/>
                  </a:solidFill>
                  <a:latin typeface="Noto Sans CJK SC"/>
                  <a:ea typeface="Noto Sans CJK SC"/>
                  <a:cs typeface="Noto Sans CJK SC"/>
                </a:rPr>
                <a:t>ONERGY / EUROPEAN BESS O&amp;M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8165" y="2210752"/>
              <a:ext cx="3627882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050" b="1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欧洲储能运维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9595" y="2993708"/>
              <a:ext cx="285978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真正交付的是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1020" y="3893820"/>
              <a:ext cx="2475738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5400" b="1" dirty="0">
                  <a:solidFill>
                    <a:srgbClr val="F58A24"/>
                  </a:solidFill>
                  <a:latin typeface="Noto Sans CJK SC"/>
                  <a:ea typeface="Noto Sans CJK SC"/>
                  <a:cs typeface="Noto Sans CJK SC"/>
                </a:rPr>
                <a:t>可用性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8645" y="4984432"/>
              <a:ext cx="39265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面向设备厂商的现场能力与合作价值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6265" y="6076950"/>
            <a:ext cx="10999470" cy="471488"/>
            <a:chOff x="596265" y="6076950"/>
            <a:chExt cx="10999470" cy="471488"/>
          </a:xfrm>
        </p:grpSpPr>
        <p:sp>
          <p:nvSpPr>
            <p:cNvPr id="17" name="Line 17"/>
            <p:cNvSpPr/>
            <p:nvPr/>
          </p:nvSpPr>
          <p:spPr>
            <a:xfrm>
              <a:off x="609600" y="6076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627582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596265" y="6335078"/>
              <a:ext cx="27773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苏州市历橙新能源有限公司 · 演讲初稿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67270" y="6335078"/>
              <a:ext cx="628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05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01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77215" y="420052"/>
            <a:ext cx="7634116" cy="1208723"/>
            <a:chOff x="577215" y="420052"/>
            <a:chExt cx="7634116" cy="1208723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12094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01 / 市场与价值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7215" y="829628"/>
              <a:ext cx="851382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从“按期并网”到“持续履约”，服务重心正在后移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1384935"/>
              <a:ext cx="54627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项目交付是起点；跨地域的长期服务，才是设备厂商持续面对的考验。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2047875"/>
            <a:ext cx="3333750" cy="3305175"/>
            <a:chOff x="609600" y="2047875"/>
            <a:chExt cx="3333750" cy="3305175"/>
          </a:xfrm>
        </p:grpSpPr>
        <p:sp>
          <p:nvSpPr>
            <p:cNvPr id="7" name="Rectangle 7"/>
            <p:cNvSpPr/>
            <p:nvPr/>
          </p:nvSpPr>
          <p:spPr>
            <a:xfrm>
              <a:off x="609600" y="2047875"/>
              <a:ext cx="3333750" cy="3305175"/>
            </a:xfrm>
            <a:prstGeom prst="rect">
              <a:avLst/>
            </a:prstGeom>
            <a:solidFill>
              <a:srgbClr val="F3F6F8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861060" y="2375535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过去容易聚焦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5820" y="2779395"/>
              <a:ext cx="153695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交付节点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1060" y="3480435"/>
              <a:ext cx="8542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安装完成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1060" y="3890010"/>
              <a:ext cx="8542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调试通过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1060" y="4299585"/>
              <a:ext cx="8542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并网验收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76300" y="485775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</p:grpSp>
      <p:grpSp>
        <p:nvGrpSpPr>
          <p:cNvPr id="24" name="Group 24"/>
          <p:cNvGrpSpPr/>
          <p:nvPr/>
        </p:nvGrpSpPr>
        <p:grpSpPr>
          <a:xfrm>
            <a:off x="4446270" y="2366010"/>
            <a:ext cx="7136130" cy="2663190"/>
            <a:chOff x="4446270" y="2366010"/>
            <a:chExt cx="7136130" cy="2663190"/>
          </a:xfrm>
        </p:grpSpPr>
        <p:sp>
          <p:nvSpPr>
            <p:cNvPr id="15" name="TextBox 15"/>
            <p:cNvSpPr txBox="1"/>
            <p:nvPr/>
          </p:nvSpPr>
          <p:spPr>
            <a:xfrm>
              <a:off x="4461510" y="2366010"/>
              <a:ext cx="15369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欧洲服务需要回答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46270" y="2779395"/>
              <a:ext cx="495071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投运之后，谁把服务承诺落实？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476750" y="3333750"/>
              <a:ext cx="7105650" cy="9525"/>
            </a:xfrm>
            <a:custGeom>
              <a:avLst/>
              <a:gdLst/>
              <a:ahLst/>
              <a:cxnLst/>
              <a:rect l="l" t="t" r="r" b="b"/>
              <a:pathLst>
                <a:path w="7105650" h="9525">
                  <a:moveTo>
                    <a:pt x="0" y="0"/>
                  </a:moveTo>
                  <a:lnTo>
                    <a:pt x="710565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4461510" y="3661410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运行工况变化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47510" y="3661410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参数与运行边界需要持续验证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61510" y="4223385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质保责任延续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47510" y="422338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恢复与验收证据需要可追溯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61510" y="4785360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本地执行要求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47510" y="4785360"/>
              <a:ext cx="2561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人员、准入、备件需要实际到位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5638800"/>
            <a:ext cx="10972800" cy="438150"/>
            <a:chOff x="609600" y="5638800"/>
            <a:chExt cx="10972800" cy="438150"/>
          </a:xfrm>
        </p:grpSpPr>
        <p:sp>
          <p:nvSpPr>
            <p:cNvPr id="25" name="Rectangle 25"/>
            <p:cNvSpPr/>
            <p:nvPr/>
          </p:nvSpPr>
          <p:spPr>
            <a:xfrm>
              <a:off x="609600" y="5638800"/>
              <a:ext cx="10972800" cy="438150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803910" y="5804535"/>
              <a:ext cx="51214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判断：售后能力应从“问题有人接”，升级为“结果有人交付”。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28" name="TextBox 28"/>
            <p:cNvSpPr txBox="1"/>
            <p:nvPr/>
          </p:nvSpPr>
          <p:spPr>
            <a:xfrm>
              <a:off x="597218" y="6381274"/>
              <a:ext cx="3499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业务分析｜不引用未经核实的行业装机数字或欧洲法规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ONERGY · 02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24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5" name="Group 5"/>
          <p:cNvGrpSpPr/>
          <p:nvPr/>
        </p:nvGrpSpPr>
        <p:grpSpPr>
          <a:xfrm>
            <a:off x="577215" y="420052"/>
            <a:ext cx="7919752" cy="927736"/>
            <a:chOff x="577215" y="420052"/>
            <a:chExt cx="7919752" cy="927736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12094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01 / 市场与价值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7215" y="829628"/>
              <a:ext cx="815111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最难的不是识别告警，而是把问题推进到现场闭环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9600" y="1619250"/>
            <a:ext cx="10972800" cy="495300"/>
            <a:chOff x="609600" y="1619250"/>
            <a:chExt cx="10972800" cy="49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95300"/>
            </a:xfrm>
            <a:prstGeom prst="rect">
              <a:avLst/>
            </a:prstGeom>
            <a:solidFill>
              <a:srgbClr val="142C3A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861060" y="1813560"/>
              <a:ext cx="15369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运维负责人的难题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37760" y="1813560"/>
              <a:ext cx="8542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实际影响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62010" y="1813560"/>
              <a:ext cx="1366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需要的服务能力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2399348"/>
            <a:ext cx="10972800" cy="543877"/>
            <a:chOff x="609600" y="2399348"/>
            <a:chExt cx="10972800" cy="543877"/>
          </a:xfrm>
        </p:grpSpPr>
        <p:sp>
          <p:nvSpPr>
            <p:cNvPr id="11" name="TextBox 11"/>
            <p:cNvSpPr txBox="1"/>
            <p:nvPr/>
          </p:nvSpPr>
          <p:spPr>
            <a:xfrm>
              <a:off x="851535" y="2399348"/>
              <a:ext cx="306939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远程判断 ≠ 现场可执行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37760" y="2480310"/>
              <a:ext cx="1707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反复取证、重复到场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62010" y="2480310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带着假设和验证条件出发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2933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3218498"/>
            <a:ext cx="10972800" cy="543877"/>
            <a:chOff x="609600" y="3218498"/>
            <a:chExt cx="10972800" cy="543877"/>
          </a:xfrm>
        </p:grpSpPr>
        <p:sp>
          <p:nvSpPr>
            <p:cNvPr id="16" name="TextBox 16"/>
            <p:cNvSpPr txBox="1"/>
            <p:nvPr/>
          </p:nvSpPr>
          <p:spPr>
            <a:xfrm>
              <a:off x="851535" y="3218498"/>
              <a:ext cx="27920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有人可派 ≠ 符合准入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37760" y="3299460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技能、授权与安全边界不匹配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62010" y="3299460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资格核验与厂商授权明确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752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4037648"/>
            <a:ext cx="10972800" cy="543877"/>
            <a:chOff x="609600" y="4037648"/>
            <a:chExt cx="10972800" cy="543877"/>
          </a:xfrm>
        </p:grpSpPr>
        <p:sp>
          <p:nvSpPr>
            <p:cNvPr id="21" name="TextBox 21"/>
            <p:cNvSpPr txBox="1"/>
            <p:nvPr/>
          </p:nvSpPr>
          <p:spPr>
            <a:xfrm>
              <a:off x="851535" y="4037648"/>
              <a:ext cx="27920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备件存在 ≠ 现场可用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37760" y="4118610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等型号、等运输、等入场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62010" y="4118610"/>
              <a:ext cx="18783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库存、运输与工单联动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09600" y="4572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</p:grpSp>
      <p:grpSp>
        <p:nvGrpSpPr>
          <p:cNvPr id="29" name="Group 29"/>
          <p:cNvGrpSpPr/>
          <p:nvPr/>
        </p:nvGrpSpPr>
        <p:grpSpPr>
          <a:xfrm>
            <a:off x="851535" y="4856798"/>
            <a:ext cx="9561195" cy="396240"/>
            <a:chOff x="851535" y="4856798"/>
            <a:chExt cx="9561195" cy="396240"/>
          </a:xfrm>
        </p:grpSpPr>
        <p:sp>
          <p:nvSpPr>
            <p:cNvPr id="26" name="TextBox 26"/>
            <p:cNvSpPr txBox="1"/>
            <p:nvPr/>
          </p:nvSpPr>
          <p:spPr>
            <a:xfrm>
              <a:off x="851535" y="4856798"/>
              <a:ext cx="27920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设备恢复 ≠ 工单完成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37760" y="4937760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质保判断和客户交接缺依据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62010" y="4937760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前后状态、测试与签认齐备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86740" y="5739765"/>
            <a:ext cx="7102602" cy="365760"/>
            <a:chOff x="586740" y="5739765"/>
            <a:chExt cx="7102602" cy="365760"/>
          </a:xfrm>
        </p:grpSpPr>
        <p:sp>
          <p:nvSpPr>
            <p:cNvPr id="30" name="TextBox 30"/>
            <p:cNvSpPr txBox="1"/>
            <p:nvPr/>
          </p:nvSpPr>
          <p:spPr>
            <a:xfrm>
              <a:off x="586740" y="5739765"/>
              <a:ext cx="73403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服务商的价值，是把这些断点变成可以管理、可以验收的工作。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32" name="TextBox 32"/>
            <p:cNvSpPr txBox="1"/>
            <p:nvPr/>
          </p:nvSpPr>
          <p:spPr>
            <a:xfrm>
              <a:off x="597218" y="6381274"/>
              <a:ext cx="36995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分析框架｜参考公司资料第13、16、17、19页的服务范围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ONERGY · 03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20" grpId="0"/>
      <p:bldP spid="25" grpId="0"/>
      <p:bldP spid="29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C3A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71500" y="420052"/>
            <a:ext cx="8057198" cy="1532573"/>
            <a:chOff x="571500" y="420052"/>
            <a:chExt cx="8057198" cy="1532573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12094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F58A24"/>
                  </a:solidFill>
                  <a:latin typeface="Noto Sans CJK SC"/>
                  <a:ea typeface="Noto Sans CJK SC"/>
                  <a:cs typeface="Noto Sans CJK SC"/>
                </a:rPr>
                <a:t>01 / 市场与价值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1500" y="895350"/>
              <a:ext cx="827913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缩短停机，先缩短那些没有技术动作的等待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6740" y="1586865"/>
              <a:ext cx="606018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很多恢复周期，消耗在“确认、协调与验证”之间。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82930" y="2537460"/>
            <a:ext cx="10999470" cy="1701165"/>
            <a:chOff x="582930" y="2537460"/>
            <a:chExt cx="10999470" cy="1701165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2537460"/>
              <a:ext cx="43444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恢复周期的组成 · 概念示意，色块宽度不表示时长比例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3000375"/>
              <a:ext cx="2552700" cy="114300"/>
            </a:xfrm>
            <a:prstGeom prst="rect">
              <a:avLst/>
            </a:prstGeom>
            <a:solidFill>
              <a:srgbClr val="627582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9" name="Rectangle 9"/>
            <p:cNvSpPr/>
            <p:nvPr/>
          </p:nvSpPr>
          <p:spPr>
            <a:xfrm>
              <a:off x="3390900" y="3000375"/>
              <a:ext cx="2552700" cy="114300"/>
            </a:xfrm>
            <a:prstGeom prst="rect">
              <a:avLst/>
            </a:prstGeom>
            <a:solidFill>
              <a:srgbClr val="087CC1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0" name="Rectangle 10"/>
            <p:cNvSpPr/>
            <p:nvPr/>
          </p:nvSpPr>
          <p:spPr>
            <a:xfrm>
              <a:off x="6172200" y="3000375"/>
              <a:ext cx="2552700" cy="114300"/>
            </a:xfrm>
            <a:prstGeom prst="rect">
              <a:avLst/>
            </a:prstGeom>
            <a:solidFill>
              <a:srgbClr val="F58A24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1" name="Rectangle 11"/>
            <p:cNvSpPr/>
            <p:nvPr/>
          </p:nvSpPr>
          <p:spPr>
            <a:xfrm>
              <a:off x="8953500" y="3000375"/>
              <a:ext cx="2628900" cy="114300"/>
            </a:xfrm>
            <a:prstGeom prst="rect">
              <a:avLst/>
            </a:prstGeom>
            <a:solidFill>
              <a:srgbClr val="D7E1E7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582930" y="3421380"/>
              <a:ext cx="136626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问题确认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64230" y="3421380"/>
              <a:ext cx="136626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资源到位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45530" y="3421380"/>
              <a:ext cx="136626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F58A24"/>
                  </a:solidFill>
                  <a:latin typeface="Noto Sans CJK SC"/>
                  <a:ea typeface="Noto Sans CJK SC"/>
                  <a:cs typeface="Noto Sans CJK SC"/>
                </a:rPr>
                <a:t>技术处置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26830" y="3421380"/>
              <a:ext cx="16649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验证与交接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4360" y="3994785"/>
              <a:ext cx="15369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告警、证据与责任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75660" y="3994785"/>
              <a:ext cx="15369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人员、备件与准入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56960" y="3994785"/>
              <a:ext cx="15369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诊断、维修与调试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38260" y="3994785"/>
              <a:ext cx="1707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运行确认、客户签认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81025" y="4810125"/>
            <a:ext cx="11001375" cy="1157287"/>
            <a:chOff x="581025" y="4810125"/>
            <a:chExt cx="11001375" cy="1157287"/>
          </a:xfrm>
        </p:grpSpPr>
        <p:sp>
          <p:nvSpPr>
            <p:cNvPr id="21" name="Line 21"/>
            <p:cNvSpPr/>
            <p:nvPr/>
          </p:nvSpPr>
          <p:spPr>
            <a:xfrm>
              <a:off x="609600" y="481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627582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581025" y="5138738"/>
              <a:ext cx="689229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25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不能只问“修了多久”，还要问“等了多久”。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8645" y="5632132"/>
              <a:ext cx="60388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用真实工单时间戳，找到可以由本地服务压缩的等待段。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25" name="TextBox 25"/>
            <p:cNvSpPr txBox="1"/>
            <p:nvPr/>
          </p:nvSpPr>
          <p:spPr>
            <a:xfrm>
              <a:off x="597218" y="6381274"/>
              <a:ext cx="30838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建议分析模型｜未使用项目实测时长或改善比例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ONERGY · 04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77215" y="420052"/>
            <a:ext cx="5777484" cy="1208723"/>
            <a:chOff x="577215" y="420052"/>
            <a:chExt cx="5777484" cy="1208723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12094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01 / 市场与价值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7215" y="829628"/>
              <a:ext cx="597484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先统一指标口径，才谈得清运维价值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1384935"/>
              <a:ext cx="51214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把“响应很快、效果很好”变成可定义、可比较、可复核的记录。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1847850"/>
            <a:ext cx="10972800" cy="3076575"/>
            <a:chOff x="609600" y="1847850"/>
            <a:chExt cx="10972800" cy="3076575"/>
          </a:xfrm>
        </p:grpSpPr>
        <p:sp>
          <p:nvSpPr>
            <p:cNvPr id="7" name="Rectangle 7"/>
            <p:cNvSpPr/>
            <p:nvPr/>
          </p:nvSpPr>
          <p:spPr>
            <a:xfrm>
              <a:off x="609600" y="1847850"/>
              <a:ext cx="10972800" cy="476250"/>
            </a:xfrm>
            <a:prstGeom prst="rect">
              <a:avLst/>
            </a:prstGeom>
            <a:solidFill>
              <a:srgbClr val="142C3A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822960" y="2042160"/>
              <a:ext cx="5128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指标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18510" y="2042160"/>
              <a:ext cx="21924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建议口径 / 必须约定的边界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71760" y="2042160"/>
              <a:ext cx="8542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项目基线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960" y="2623185"/>
              <a:ext cx="10248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技术可用率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18510" y="2623185"/>
              <a:ext cx="37558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约定服务窗口内的可运行时间占比；排除项单列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71760" y="2623185"/>
              <a:ext cx="6835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待补充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30194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822960" y="3308985"/>
              <a:ext cx="13391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首次响应 / 到场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18510" y="3308985"/>
              <a:ext cx="33872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工单受理至有效响应 / 人员满足准入并抵达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71760" y="3308985"/>
              <a:ext cx="6835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待补充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" y="37052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822960" y="3994785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故障恢复时长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18510" y="3994785"/>
              <a:ext cx="37558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故障确认至恢复验收；等待与技术作业分别记录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71760" y="3994785"/>
              <a:ext cx="6835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待补充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43910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822960" y="4680585"/>
              <a:ext cx="13391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复发 / 首访修复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18510" y="4680585"/>
              <a:ext cx="3414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明确同类故障观察窗口、适用工单及样本量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71760" y="4680585"/>
              <a:ext cx="6835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待补充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5305425"/>
            <a:ext cx="10972800" cy="752475"/>
            <a:chOff x="609600" y="5305425"/>
            <a:chExt cx="10972800" cy="752475"/>
          </a:xfrm>
        </p:grpSpPr>
        <p:sp>
          <p:nvSpPr>
            <p:cNvPr id="27" name="Rectangle 27"/>
            <p:cNvSpPr/>
            <p:nvPr/>
          </p:nvSpPr>
          <p:spPr>
            <a:xfrm>
              <a:off x="609600" y="5305425"/>
              <a:ext cx="10972800" cy="752475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822960" y="5490210"/>
              <a:ext cx="54627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现场数据补充位：站点、统计期间、样本数、排除项、原始工单链接。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2008" y="5767864"/>
              <a:ext cx="65189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技术可用性不等同于收益可用性；维护效果不应脱离调度和商业运行条件评价。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31" name="TextBox 31"/>
            <p:cNvSpPr txBox="1"/>
            <p:nvPr/>
          </p:nvSpPr>
          <p:spPr>
            <a:xfrm>
              <a:off x="597218" y="6381274"/>
              <a:ext cx="3499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建议指标定义｜无已验证的改善比例，不填写示例数字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ONERGY · 05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6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5" name="Group 5"/>
          <p:cNvGrpSpPr/>
          <p:nvPr/>
        </p:nvGrpSpPr>
        <p:grpSpPr>
          <a:xfrm>
            <a:off x="577215" y="420052"/>
            <a:ext cx="7205662" cy="927736"/>
            <a:chOff x="577215" y="420052"/>
            <a:chExt cx="7205662" cy="927736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1508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02 / 公司与交付底座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7215" y="829628"/>
              <a:ext cx="742569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历橙的角色：把储能经验转化为本地执行能力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84835" y="1828800"/>
            <a:ext cx="4425315" cy="3895725"/>
            <a:chOff x="584835" y="1828800"/>
            <a:chExt cx="4425315" cy="3895725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828800"/>
              <a:ext cx="2209800" cy="847725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584835" y="2932748"/>
              <a:ext cx="349986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苏州市历橙新能源有限公司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4360" y="3480435"/>
              <a:ext cx="24661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2024 年创立，聚焦能源后市场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360" y="3928110"/>
              <a:ext cx="27317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以技术支持、现场服务和维修检测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4360" y="4261485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连接设备厂商与资产运营现场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4905375"/>
              <a:ext cx="4400550" cy="819150"/>
            </a:xfrm>
            <a:prstGeom prst="rect">
              <a:avLst/>
            </a:prstGeom>
            <a:solidFill>
              <a:srgbClr val="F3F6F8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802005" y="5093018"/>
              <a:ext cx="2475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定位：设备厂商的执行伙伴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2005" y="5369242"/>
              <a:ext cx="36278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围绕授权范围交付，不替代厂商技术决策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72125" y="1809750"/>
            <a:ext cx="3108960" cy="3933825"/>
            <a:chOff x="5572125" y="1809750"/>
            <a:chExt cx="3108960" cy="3933825"/>
          </a:xfrm>
        </p:grpSpPr>
        <p:sp>
          <p:nvSpPr>
            <p:cNvPr id="15" name="Line 15"/>
            <p:cNvSpPr/>
            <p:nvPr/>
          </p:nvSpPr>
          <p:spPr>
            <a:xfrm>
              <a:off x="5572125" y="1809750"/>
              <a:ext cx="171450" cy="3933825"/>
            </a:xfrm>
            <a:custGeom>
              <a:avLst/>
              <a:gdLst/>
              <a:ahLst/>
              <a:cxnLst/>
              <a:rect l="l" t="t" r="r" b="b"/>
              <a:pathLst>
                <a:path w="9525" h="3933825">
                  <a:moveTo>
                    <a:pt x="0" y="0"/>
                  </a:moveTo>
                  <a:lnTo>
                    <a:pt x="0" y="3933825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>
              <a:p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90285" y="2023110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从行业积累，到后市场服务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77902" y="2556034"/>
              <a:ext cx="140893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理解设备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90285" y="3023235"/>
              <a:ext cx="29024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团队履历涉及储能、微网与海外业务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77902" y="3622834"/>
              <a:ext cx="140893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走进现场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90285" y="4090035"/>
              <a:ext cx="27317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将诊断与调测落到具体设备及工单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77902" y="4689634"/>
              <a:ext cx="202768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形成长期服务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90285" y="5156835"/>
              <a:ext cx="27317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以记录、复核与复盘支持持续运维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24" name="TextBox 24"/>
            <p:cNvSpPr txBox="1"/>
            <p:nvPr/>
          </p:nvSpPr>
          <p:spPr>
            <a:xfrm>
              <a:off x="597218" y="6381274"/>
              <a:ext cx="4637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来源：公司PDF第1、9、10、15页｜团队早期履历不等同于公司成立年限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ONERGY · 06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5" name="Group 5"/>
          <p:cNvGrpSpPr/>
          <p:nvPr/>
        </p:nvGrpSpPr>
        <p:grpSpPr>
          <a:xfrm>
            <a:off x="577215" y="420052"/>
            <a:ext cx="7919752" cy="927736"/>
            <a:chOff x="577215" y="420052"/>
            <a:chExt cx="7919752" cy="927736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1508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02 / 公司与交付底座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7215" y="829628"/>
              <a:ext cx="815111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布达佩斯枢纽，让工程师、备件与维修更贴近项目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6740" y="1714500"/>
            <a:ext cx="5785485" cy="4191000"/>
            <a:chOff x="586740" y="1714500"/>
            <a:chExt cx="5785485" cy="41910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714500"/>
              <a:ext cx="5762625" cy="3248025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594360" y="5156835"/>
              <a:ext cx="34910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匈牙利 · 布达佩斯运营中心｜公司原稿照片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6740" y="5539740"/>
              <a:ext cx="606018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本地资源的意义：减少跨境协调与设备周转的等待。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48475" y="1851660"/>
            <a:ext cx="4733925" cy="3958590"/>
            <a:chOff x="6848475" y="1851660"/>
            <a:chExt cx="4733925" cy="3958590"/>
          </a:xfrm>
        </p:grpSpPr>
        <p:sp>
          <p:nvSpPr>
            <p:cNvPr id="10" name="TextBox 10"/>
            <p:cNvSpPr txBox="1"/>
            <p:nvPr/>
          </p:nvSpPr>
          <p:spPr>
            <a:xfrm>
              <a:off x="6890385" y="1851660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原稿披露的实体服务底座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48475" y="2333625"/>
              <a:ext cx="267538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约 8,000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78440" y="2625090"/>
              <a:ext cx="51374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m²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90385" y="3099435"/>
              <a:ext cx="30731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仓储与维修作业区，含备件库、维修间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905625" y="3514725"/>
              <a:ext cx="4676775" cy="9525"/>
            </a:xfrm>
            <a:custGeom>
              <a:avLst/>
              <a:gdLst/>
              <a:ahLst/>
              <a:cxnLst/>
              <a:rect l="l" t="t" r="r" b="b"/>
              <a:pathLst>
                <a:path w="4676775" h="9525">
                  <a:moveTo>
                    <a:pt x="0" y="0"/>
                  </a:moveTo>
                  <a:lnTo>
                    <a:pt x="4676775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6882765" y="3720465"/>
              <a:ext cx="11955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设备周转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86575" y="4095750"/>
              <a:ext cx="2775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5–10 吨级行车、5 吨级叉车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82765" y="4596765"/>
              <a:ext cx="14516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仓储与物流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86575" y="4972050"/>
              <a:ext cx="35852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备件储存、安全包装、跨境运输支持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90385" y="5566410"/>
              <a:ext cx="35852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具体库存、可用工位与现场准入需按项目确认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21" name="TextBox 21"/>
            <p:cNvSpPr txBox="1"/>
            <p:nvPr/>
          </p:nvSpPr>
          <p:spPr>
            <a:xfrm>
              <a:off x="597218" y="6381274"/>
              <a:ext cx="5330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来源：公司PDF第14、19、20页｜面积与设备能力为公司披露口径，未作第三方审计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ONERGY · 07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77215" y="420052"/>
            <a:ext cx="7241367" cy="1218248"/>
            <a:chOff x="577215" y="420052"/>
            <a:chExt cx="7241367" cy="1218248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1508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02 / 公司与交付底座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7215" y="829628"/>
              <a:ext cx="778840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欧洲响应应分层承诺，而不是承诺“全域同速”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1394460"/>
              <a:ext cx="54627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以匈牙利为枢纽的原稿服务梯度；实际到场时效须按工单与合同确认。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1876425"/>
            <a:ext cx="7010400" cy="3876675"/>
            <a:chOff x="609600" y="1876425"/>
            <a:chExt cx="7010400" cy="3876675"/>
          </a:xfrm>
        </p:grpSpPr>
        <p:sp>
          <p:nvSpPr>
            <p:cNvPr id="7" name="Rectangle 7"/>
            <p:cNvSpPr/>
            <p:nvPr/>
          </p:nvSpPr>
          <p:spPr>
            <a:xfrm>
              <a:off x="609600" y="1876425"/>
              <a:ext cx="7010400" cy="3876675"/>
            </a:xfrm>
            <a:prstGeom prst="rect">
              <a:avLst/>
            </a:prstGeom>
            <a:solidFill>
              <a:srgbClr val="F3F6F8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842010" y="2175510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原稿时效梯度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61310" y="2175510"/>
              <a:ext cx="2561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代表性覆盖区域（非完整清单）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6770" y="2617470"/>
              <a:ext cx="108773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≤ 8 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61310" y="2747010"/>
              <a:ext cx="6835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匈牙利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57250" y="3133725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826770" y="3341370"/>
              <a:ext cx="12573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8–24 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61310" y="3470910"/>
              <a:ext cx="30731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奥地利、捷克、斯洛伐克、罗马尼亚等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57250" y="3857625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826770" y="4065270"/>
              <a:ext cx="14587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24–48 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61310" y="4194810"/>
              <a:ext cx="32438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德国、波兰、瑞士、意大利、保加利亚等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57250" y="4581525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826770" y="4789170"/>
              <a:ext cx="14587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48–72 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61310" y="4918710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法国、西班牙、荷兰、北欧等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2010" y="5385435"/>
              <a:ext cx="52493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英国：单独安排；原稿未明确计时起点与排除项，不直接用作SLA。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090535" y="2104072"/>
            <a:ext cx="2844165" cy="3229928"/>
            <a:chOff x="8090535" y="2104072"/>
            <a:chExt cx="2844165" cy="3229928"/>
          </a:xfrm>
        </p:grpSpPr>
        <p:sp>
          <p:nvSpPr>
            <p:cNvPr id="23" name="TextBox 23"/>
            <p:cNvSpPr txBox="1"/>
            <p:nvPr/>
          </p:nvSpPr>
          <p:spPr>
            <a:xfrm>
              <a:off x="8090535" y="2104072"/>
              <a:ext cx="294513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到场前，先确认三件事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0060" y="2813685"/>
              <a:ext cx="1252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01 资格与准入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96250" y="3124200"/>
              <a:ext cx="31584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当地法规、现场授权与安全条件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00060" y="3766185"/>
              <a:ext cx="1252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02 人员与备件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96250" y="4076700"/>
              <a:ext cx="273177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技能、型号与库存真实可用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00060" y="4718685"/>
              <a:ext cx="1252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03 起止与例外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96250" y="5029200"/>
              <a:ext cx="31584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服务窗口、跨境通行及恢复边界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31" name="TextBox 31"/>
            <p:cNvSpPr txBox="1"/>
            <p:nvPr/>
          </p:nvSpPr>
          <p:spPr>
            <a:xfrm>
              <a:off x="597218" y="6381274"/>
              <a:ext cx="51617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来源：公司PDF第13页｜跨国作业资质按当地要求核验，非欧盟全域自动互认承诺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ONERGY · 08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77215" y="420052"/>
            <a:ext cx="7205662" cy="1199198"/>
            <a:chOff x="577215" y="420052"/>
            <a:chExt cx="7205662" cy="1199198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180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03 / 面向厂商的服务能力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7215" y="829628"/>
              <a:ext cx="742569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面向设备厂商，服务能力要围绕交付结果组织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1375410"/>
              <a:ext cx="51214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服务清单不是价值本身；每项工作都应有清楚的责任与验收依据。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1866900"/>
            <a:ext cx="10972800" cy="3424238"/>
            <a:chOff x="609600" y="1866900"/>
            <a:chExt cx="10972800" cy="3424238"/>
          </a:xfrm>
        </p:grpSpPr>
        <p:sp>
          <p:nvSpPr>
            <p:cNvPr id="7" name="Rectangle 7"/>
            <p:cNvSpPr/>
            <p:nvPr/>
          </p:nvSpPr>
          <p:spPr>
            <a:xfrm>
              <a:off x="609600" y="1866900"/>
              <a:ext cx="10972800" cy="457200"/>
            </a:xfrm>
            <a:prstGeom prst="rect">
              <a:avLst/>
            </a:prstGeom>
            <a:solidFill>
              <a:srgbClr val="142C3A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822960" y="2051685"/>
              <a:ext cx="10248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需要的结果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18510" y="2051685"/>
              <a:ext cx="8542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执行能力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71510" y="2051685"/>
              <a:ext cx="15369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建议约定的交付物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3435" y="2580322"/>
              <a:ext cx="128092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顺利投运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18510" y="2661285"/>
              <a:ext cx="30731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现场调测、通信与保护验证、并网支持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71510" y="2661285"/>
              <a:ext cx="18510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测试记录 / 遗留项清单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3086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813435" y="3351848"/>
              <a:ext cx="128092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稳定运行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18510" y="3432810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远程支持、巡检、预防性维护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71510" y="3432810"/>
              <a:ext cx="21924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风险清单 / 维护与运营报告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" y="38576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813435" y="4123372"/>
              <a:ext cx="128092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故障恢复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18510" y="4204335"/>
              <a:ext cx="27317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分级响应、现场排查、备件与修复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71510" y="4204335"/>
              <a:ext cx="21651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原因记录 / 恢复验证 / 签认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4629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813435" y="4894898"/>
              <a:ext cx="155829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维修可追溯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18510" y="4975860"/>
              <a:ext cx="2561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部件检测、模块维修、返修验证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71510" y="4975860"/>
              <a:ext cx="23358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检测报告 / 序列号 / 测试结果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5524500"/>
            <a:ext cx="10972800" cy="495300"/>
            <a:chOff x="609600" y="5524500"/>
            <a:chExt cx="10972800" cy="495300"/>
          </a:xfrm>
        </p:grpSpPr>
        <p:sp>
          <p:nvSpPr>
            <p:cNvPr id="27" name="Rectangle 27"/>
            <p:cNvSpPr/>
            <p:nvPr/>
          </p:nvSpPr>
          <p:spPr>
            <a:xfrm>
              <a:off x="609600" y="5524500"/>
              <a:ext cx="10972800" cy="495300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822960" y="5728335"/>
              <a:ext cx="63162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边界：厂商保留技术方案与参数变更审批；服务方对授权范围内执行和证据负责。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30" name="TextBox 30"/>
            <p:cNvSpPr txBox="1"/>
            <p:nvPr/>
          </p:nvSpPr>
          <p:spPr>
            <a:xfrm>
              <a:off x="597218" y="6381274"/>
              <a:ext cx="46380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能力依据：公司PDF第15—17、19、21页｜交付物与责任边界为合作建议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ONERGY · 09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6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5" name="Group 5"/>
          <p:cNvGrpSpPr/>
          <p:nvPr/>
        </p:nvGrpSpPr>
        <p:grpSpPr>
          <a:xfrm>
            <a:off x="577215" y="420052"/>
            <a:ext cx="6491573" cy="927736"/>
            <a:chOff x="577215" y="420052"/>
            <a:chExt cx="6491573" cy="927736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180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03 / 面向厂商的服务能力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7215" y="829628"/>
              <a:ext cx="67002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现场服务的终点，是有证据的恢复与交接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84835" y="1812332"/>
            <a:ext cx="4025265" cy="4355106"/>
            <a:chOff x="584835" y="1812332"/>
            <a:chExt cx="4025265" cy="4355106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812332"/>
              <a:ext cx="4000500" cy="2995211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594360" y="5013960"/>
              <a:ext cx="18783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原稿匈牙利项目现场图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4835" y="5409248"/>
              <a:ext cx="266776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不是“做过测试”，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4835" y="5771198"/>
              <a:ext cx="433197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而是“留下可复核的测试结果”。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13985" y="1932622"/>
            <a:ext cx="6368415" cy="4068128"/>
            <a:chOff x="5213985" y="1932622"/>
            <a:chExt cx="6368415" cy="4068128"/>
          </a:xfrm>
        </p:grpSpPr>
        <p:sp>
          <p:nvSpPr>
            <p:cNvPr id="11" name="TextBox 11"/>
            <p:cNvSpPr txBox="1"/>
            <p:nvPr/>
          </p:nvSpPr>
          <p:spPr>
            <a:xfrm>
              <a:off x="5213985" y="1932622"/>
              <a:ext cx="460933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投运支持：验证系统是否按设计工作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23510" y="2432685"/>
              <a:ext cx="32438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接线与绝缘、固件参数、通信与保护逻辑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23510" y="2766060"/>
              <a:ext cx="27317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辅助系统、功率响应与充放电功能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238750" y="3209925"/>
              <a:ext cx="6343650" cy="9525"/>
            </a:xfrm>
            <a:custGeom>
              <a:avLst/>
              <a:gdLst/>
              <a:ahLst/>
              <a:cxnLst/>
              <a:rect l="l" t="t" r="r" b="b"/>
              <a:pathLst>
                <a:path w="6343650" h="9525">
                  <a:moveTo>
                    <a:pt x="0" y="0"/>
                  </a:moveTo>
                  <a:lnTo>
                    <a:pt x="634365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5213985" y="3428048"/>
              <a:ext cx="516407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故障恢复：确认“修好”而非仅清除告警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23510" y="3928110"/>
              <a:ext cx="35852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修复前后状态对照、功能复测、遗留风险说明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23510" y="4261485"/>
              <a:ext cx="30731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必要的观察窗口与复发监测由双方约定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238750" y="4705350"/>
              <a:ext cx="6343650" cy="9525"/>
            </a:xfrm>
            <a:custGeom>
              <a:avLst/>
              <a:gdLst/>
              <a:ahLst/>
              <a:cxnLst/>
              <a:rect l="l" t="t" r="r" b="b"/>
              <a:pathLst>
                <a:path w="6343650" h="9525">
                  <a:moveTo>
                    <a:pt x="0" y="0"/>
                  </a:moveTo>
                  <a:lnTo>
                    <a:pt x="634365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5213985" y="4923472"/>
              <a:ext cx="488670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厂商得到：可以用于交接与质保的依据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23510" y="5423535"/>
              <a:ext cx="35852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版本与参数、测试条件、结果、责任人和签认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23510" y="5756910"/>
              <a:ext cx="3414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技术变更先授权，安全边界不因时效而放宽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23" name="TextBox 23"/>
            <p:cNvSpPr txBox="1"/>
            <p:nvPr/>
          </p:nvSpPr>
          <p:spPr>
            <a:xfrm>
              <a:off x="597218" y="6381274"/>
              <a:ext cx="40827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服务范围：公司PDF第16、17、30页｜验收证据组织方式为建议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ONERGY · 10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77215" y="420052"/>
            <a:ext cx="6848618" cy="1199198"/>
            <a:chOff x="577215" y="420052"/>
            <a:chExt cx="6848618" cy="1199198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180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03 / 面向厂商的服务能力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7215" y="829628"/>
              <a:ext cx="706297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远程支持的价值，是让第一次到场更有准备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1375410"/>
              <a:ext cx="44386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远程不是替代现场，而是提高每次现场行动的信息质量。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83882" y="2019776"/>
            <a:ext cx="4988243" cy="3476149"/>
            <a:chOff x="583882" y="2019776"/>
            <a:chExt cx="4988243" cy="3476149"/>
          </a:xfrm>
        </p:grpSpPr>
        <p:sp>
          <p:nvSpPr>
            <p:cNvPr id="7" name="TextBox 7"/>
            <p:cNvSpPr txBox="1"/>
            <p:nvPr/>
          </p:nvSpPr>
          <p:spPr>
            <a:xfrm>
              <a:off x="583882" y="2019776"/>
              <a:ext cx="391591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把“报错”转成可验证的问题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543175"/>
              <a:ext cx="4962525" cy="9525"/>
            </a:xfrm>
            <a:custGeom>
              <a:avLst/>
              <a:gdLst/>
              <a:ahLst/>
              <a:cxnLst/>
              <a:rect l="l" t="t" r="r" b="b"/>
              <a:pathLst>
                <a:path w="4962525" h="9525">
                  <a:moveTo>
                    <a:pt x="0" y="0"/>
                  </a:moveTo>
                  <a:lnTo>
                    <a:pt x="4962525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594360" y="2880360"/>
              <a:ext cx="29024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告警出现前后，设备处于什么工况？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4360" y="3328035"/>
              <a:ext cx="30731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异常来自控制、通信，还是功率链路？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4360" y="3775710"/>
              <a:ext cx="32438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哪些证据支持判断，哪些还需现场验证？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4410075"/>
              <a:ext cx="4962525" cy="1085850"/>
            </a:xfrm>
            <a:prstGeom prst="rect">
              <a:avLst/>
            </a:prstGeom>
            <a:solidFill>
              <a:srgbClr val="F3F6F8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803910" y="4671060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输出不是“再看一下”，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4385" y="4980622"/>
              <a:ext cx="377723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而是一份带边界的工作假设。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76950" y="1885950"/>
            <a:ext cx="5505450" cy="3609975"/>
            <a:chOff x="6076950" y="1885950"/>
            <a:chExt cx="5505450" cy="3609975"/>
          </a:xfrm>
        </p:grpSpPr>
        <p:sp>
          <p:nvSpPr>
            <p:cNvPr id="16" name="Rectangle 16"/>
            <p:cNvSpPr/>
            <p:nvPr/>
          </p:nvSpPr>
          <p:spPr>
            <a:xfrm>
              <a:off x="6076950" y="1885950"/>
              <a:ext cx="5505450" cy="3609975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6356032" y="2134076"/>
              <a:ext cx="305181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到场前应形成的任务包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66510" y="2813685"/>
              <a:ext cx="3608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80860" y="2813685"/>
              <a:ext cx="18783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候选原因与排查优先级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66510" y="3347085"/>
              <a:ext cx="3608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80860" y="334708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备件、工具与人员技能要求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66510" y="3880485"/>
              <a:ext cx="3608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80860" y="3880485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获准执行的动作和禁止项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66510" y="4413885"/>
              <a:ext cx="3608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80860" y="4413885"/>
              <a:ext cx="1707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成功恢复的验证条件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65558" y="5005864"/>
              <a:ext cx="39799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首访修复率及减少重复到场的实际效果：待补充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28" name="TextBox 28"/>
            <p:cNvSpPr txBox="1"/>
            <p:nvPr/>
          </p:nvSpPr>
          <p:spPr>
            <a:xfrm>
              <a:off x="597218" y="6381274"/>
              <a:ext cx="5330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能力语境：公司PDF第15、17、22页｜任务包为执行建议，不代表既有项目实测成果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ONERGY · 11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77215" y="420052"/>
            <a:ext cx="6848618" cy="1208723"/>
            <a:chOff x="577215" y="420052"/>
            <a:chExt cx="6848618" cy="1208723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180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03 / 面向厂商的服务能力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7215" y="829628"/>
              <a:ext cx="706297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预防性维护，应优先处理影响可用性的风险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1384935"/>
              <a:ext cx="59748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不是所有设备“平均用力”，而是让有限的现场窗口覆盖更关键的失效路径。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84835" y="2008822"/>
            <a:ext cx="4863465" cy="3449003"/>
            <a:chOff x="584835" y="2008822"/>
            <a:chExt cx="4863465" cy="3449003"/>
          </a:xfrm>
        </p:grpSpPr>
        <p:sp>
          <p:nvSpPr>
            <p:cNvPr id="7" name="TextBox 7"/>
            <p:cNvSpPr txBox="1"/>
            <p:nvPr/>
          </p:nvSpPr>
          <p:spPr>
            <a:xfrm>
              <a:off x="584835" y="2008822"/>
              <a:ext cx="239039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如何决定先做什么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505075"/>
              <a:ext cx="4838700" cy="9525"/>
            </a:xfrm>
            <a:custGeom>
              <a:avLst/>
              <a:gdLst/>
              <a:ahLst/>
              <a:cxnLst/>
              <a:rect l="l" t="t" r="r" b="b"/>
              <a:pathLst>
                <a:path w="4838700" h="9525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noFill/>
            <a:ln w="38100">
              <a:solidFill>
                <a:srgbClr val="F58A24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594360" y="2851785"/>
              <a:ext cx="1366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安全与停机影响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4360" y="3194685"/>
              <a:ext cx="29024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后果越严重，越需要提前识别与干预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4360" y="3861435"/>
              <a:ext cx="1366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重复发生与共因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4360" y="4204335"/>
              <a:ext cx="29024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不只更换故障件，还要关注复发条件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360" y="4871085"/>
              <a:ext cx="18783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可检测性与可执行窗口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4360" y="5213985"/>
              <a:ext cx="29024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提前发现是否能转化为可安排的检修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57900" y="1895475"/>
            <a:ext cx="5524500" cy="3876675"/>
            <a:chOff x="6057900" y="1895475"/>
            <a:chExt cx="5524500" cy="3876675"/>
          </a:xfrm>
        </p:grpSpPr>
        <p:sp>
          <p:nvSpPr>
            <p:cNvPr id="16" name="Rectangle 16"/>
            <p:cNvSpPr/>
            <p:nvPr/>
          </p:nvSpPr>
          <p:spPr>
            <a:xfrm>
              <a:off x="6057900" y="1895475"/>
              <a:ext cx="5524500" cy="3876675"/>
            </a:xfrm>
            <a:prstGeom prst="rect">
              <a:avLst/>
            </a:prstGeom>
            <a:solidFill>
              <a:srgbClr val="F3F6F8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6337935" y="2151698"/>
              <a:ext cx="377723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把检查对象放回系统运行语境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47460" y="2794635"/>
              <a:ext cx="15369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热管理与辅助系统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47460" y="3118485"/>
              <a:ext cx="32438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温控、消防与供电状态是否改变运行边界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47460" y="3680460"/>
              <a:ext cx="18509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PCS、通信与控制链路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47460" y="4004310"/>
              <a:ext cx="32438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告警关联、版本变更与保护动作是否一致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47460" y="4566285"/>
              <a:ext cx="1366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柜体与电气连接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47460" y="4890135"/>
              <a:ext cx="29024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环境、结构与连接状态是否需要处置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46508" y="5348764"/>
              <a:ext cx="37985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维护后复测；计划停机与非计划停机分开统计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26" name="TextBox 26"/>
            <p:cNvSpPr txBox="1"/>
            <p:nvPr/>
          </p:nvSpPr>
          <p:spPr>
            <a:xfrm>
              <a:off x="597218" y="6381274"/>
              <a:ext cx="50383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范围依据：公司PDF第16、17页｜优先级逻辑为建议，不构成具体设备操作规程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ONERGY · 12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5" name="Group 5"/>
          <p:cNvGrpSpPr/>
          <p:nvPr/>
        </p:nvGrpSpPr>
        <p:grpSpPr>
          <a:xfrm>
            <a:off x="577215" y="420052"/>
            <a:ext cx="7205662" cy="927736"/>
            <a:chOff x="577215" y="420052"/>
            <a:chExt cx="7205662" cy="927736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180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03 / 面向厂商的服务能力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7215" y="829628"/>
              <a:ext cx="742569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备件与维修能力，决定故障恢复能否真正闭环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4360" y="1762125"/>
            <a:ext cx="3872865" cy="4267200"/>
            <a:chOff x="594360" y="1762125"/>
            <a:chExt cx="3872865" cy="4267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762125"/>
              <a:ext cx="3857625" cy="3857625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594360" y="5785485"/>
              <a:ext cx="22688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原稿欧洲 PCS 模块维修现场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39665" y="1775460"/>
            <a:ext cx="6642735" cy="4206240"/>
            <a:chOff x="4939665" y="1775460"/>
            <a:chExt cx="6642735" cy="4206240"/>
          </a:xfrm>
        </p:grpSpPr>
        <p:sp>
          <p:nvSpPr>
            <p:cNvPr id="9" name="TextBox 9"/>
            <p:cNvSpPr txBox="1"/>
            <p:nvPr/>
          </p:nvSpPr>
          <p:spPr>
            <a:xfrm>
              <a:off x="4985385" y="1775460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公司材料披露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39665" y="2282190"/>
              <a:ext cx="178281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800" b="1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300+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27582" y="2543651"/>
              <a:ext cx="249415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PCS 模块维修服务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83480" y="3064192"/>
              <a:ext cx="38199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统计期间、去重口径及维修合格率：待补充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000625" y="3495675"/>
              <a:ext cx="6581775" cy="9525"/>
            </a:xfrm>
            <a:custGeom>
              <a:avLst/>
              <a:gdLst/>
              <a:ahLst/>
              <a:cxnLst/>
              <a:rect l="l" t="t" r="r" b="b"/>
              <a:pathLst>
                <a:path w="6581775" h="9525">
                  <a:moveTo>
                    <a:pt x="0" y="0"/>
                  </a:moveTo>
                  <a:lnTo>
                    <a:pt x="6581775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4976812" y="3721894"/>
              <a:ext cx="47053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从替换件到返修件，都要有去向和结论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85385" y="4213860"/>
              <a:ext cx="35852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备件：型号匹配、库存确认、包装与运输条件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85385" y="4632960"/>
              <a:ext cx="39265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维修：故障检测、模块更换、功能测试与返修验证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85385" y="5052060"/>
              <a:ext cx="37558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追溯：序列号、前后状态、测试结果与交付签认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00625" y="5514975"/>
              <a:ext cx="6581775" cy="466725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5172075" y="5657850"/>
              <a:ext cx="593217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合作价值：减少等待不确定性，而非承诺未经验证的修复率。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21" name="TextBox 21"/>
            <p:cNvSpPr txBox="1"/>
            <p:nvPr/>
          </p:nvSpPr>
          <p:spPr>
            <a:xfrm>
              <a:off x="597218" y="6381274"/>
              <a:ext cx="4776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来源：公司PDF第19、21、31页｜维修数量不能替代单项目恢复效果的证据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ONERGY · 13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5" name="Group 5"/>
          <p:cNvGrpSpPr/>
          <p:nvPr/>
        </p:nvGrpSpPr>
        <p:grpSpPr>
          <a:xfrm>
            <a:off x="577215" y="420052"/>
            <a:ext cx="7562707" cy="927736"/>
            <a:chOff x="577215" y="420052"/>
            <a:chExt cx="7562707" cy="927736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23218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02 / 公司与交付底座 · 国内补充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7215" y="829628"/>
              <a:ext cx="778840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国内经验提供工程纵深，欧洲交付遵循当地条件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41020" y="1870710"/>
            <a:ext cx="4916805" cy="3870484"/>
            <a:chOff x="541020" y="1870710"/>
            <a:chExt cx="4916805" cy="3870484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1870710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公司披露的国内储能服务规模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1020" y="2312670"/>
              <a:ext cx="2686973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5400" b="1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1,000+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6740" y="3329940"/>
              <a:ext cx="17076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储能项目实证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03295" y="2312670"/>
              <a:ext cx="1077813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5400" b="1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18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49015" y="3329940"/>
              <a:ext cx="9395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省覆盖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2455" y="3864292"/>
              <a:ext cx="26886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统计期间：2025.06—2026.06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4286250"/>
              <a:ext cx="4848225" cy="9525"/>
            </a:xfrm>
            <a:custGeom>
              <a:avLst/>
              <a:gdLst/>
              <a:ahLst/>
              <a:cxnLst/>
              <a:rect l="l" t="t" r="r" b="b"/>
              <a:pathLst>
                <a:path w="4848225" h="9525">
                  <a:moveTo>
                    <a:pt x="0" y="0"/>
                  </a:moveTo>
                  <a:lnTo>
                    <a:pt x="4848225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594360" y="4480560"/>
              <a:ext cx="3414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可以共享：技术经验、诊断知识与维修方法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4360" y="4909185"/>
              <a:ext cx="3414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不能直接外推：欧洲到场时效与交付合格率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3408" y="5482114"/>
              <a:ext cx="41612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“项目实证”的独立站点及工单去重口径待确认。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54090" y="1838325"/>
            <a:ext cx="5528310" cy="4067175"/>
            <a:chOff x="6054090" y="1838325"/>
            <a:chExt cx="5528310" cy="4067175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76950" y="1838325"/>
              <a:ext cx="5505450" cy="3095625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6061710" y="5109210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国内项目现场｜公司原稿照片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54090" y="5539740"/>
              <a:ext cx="554812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欧洲任务仍以当地准入、现场条件与合同为准。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21" name="TextBox 21"/>
            <p:cNvSpPr txBox="1"/>
            <p:nvPr/>
          </p:nvSpPr>
          <p:spPr>
            <a:xfrm>
              <a:off x="597218" y="6381274"/>
              <a:ext cx="53004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来源：公司PDF第27页｜公司披露数量，非独立审计；国内布局仅作为工程能力补充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ONERGY · 14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5" name="Group 5"/>
          <p:cNvGrpSpPr/>
          <p:nvPr/>
        </p:nvGrpSpPr>
        <p:grpSpPr>
          <a:xfrm>
            <a:off x="577215" y="420052"/>
            <a:ext cx="7937604" cy="927736"/>
            <a:chOff x="577215" y="420052"/>
            <a:chExt cx="7937604" cy="927736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12094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04 / 欧洲主案例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7215" y="829628"/>
              <a:ext cx="838035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匈牙利 100 MWh：把调试、验证与并网准备连起来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5310" y="1812332"/>
            <a:ext cx="4034790" cy="4397968"/>
            <a:chOff x="575310" y="1812332"/>
            <a:chExt cx="4034790" cy="4397968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812332"/>
              <a:ext cx="4000500" cy="2995211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584835" y="4885372"/>
              <a:ext cx="25163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匈牙利 · 光伏配储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5310" y="5356860"/>
              <a:ext cx="18631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700" b="1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100 MWh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360" y="5966460"/>
              <a:ext cx="33615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项目能量容量；MW功率与服务日期待补充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66360" y="1927860"/>
            <a:ext cx="3080385" cy="2987040"/>
            <a:chOff x="5166360" y="1927860"/>
            <a:chExt cx="3080385" cy="2987040"/>
          </a:xfrm>
        </p:grpSpPr>
        <p:sp>
          <p:nvSpPr>
            <p:cNvPr id="11" name="TextBox 11"/>
            <p:cNvSpPr txBox="1"/>
            <p:nvPr/>
          </p:nvSpPr>
          <p:spPr>
            <a:xfrm>
              <a:off x="5175885" y="1927860"/>
              <a:ext cx="1707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原稿记载的服务内容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66360" y="2351722"/>
              <a:ext cx="294513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变压器系统诊断与调试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75885" y="2804160"/>
              <a:ext cx="30731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围绕设备状态与投运条件开展现场工作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66360" y="3285172"/>
              <a:ext cx="270743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PCS 校验与通电测试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75885" y="3737610"/>
              <a:ext cx="29024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验证设备响应，为系统调试提供依据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66360" y="4218622"/>
              <a:ext cx="266776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安规测试与功能验证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75885" y="4671060"/>
              <a:ext cx="3414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支持并网准备，验收结果需以项目记录确认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91125" y="5229225"/>
            <a:ext cx="6391275" cy="819150"/>
            <a:chOff x="5191125" y="5229225"/>
            <a:chExt cx="6391275" cy="819150"/>
          </a:xfrm>
        </p:grpSpPr>
        <p:sp>
          <p:nvSpPr>
            <p:cNvPr id="19" name="Rectangle 19"/>
            <p:cNvSpPr/>
            <p:nvPr/>
          </p:nvSpPr>
          <p:spPr>
            <a:xfrm>
              <a:off x="5191125" y="5229225"/>
              <a:ext cx="6391275" cy="819150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5372100" y="5381625"/>
              <a:ext cx="46520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成果补充位：验收记录、遗留项关闭与恢复时间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74958" y="5701189"/>
              <a:ext cx="43426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当前无量化结果，不宣称已缩短工期或提升可用率。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23" name="TextBox 23"/>
            <p:cNvSpPr txBox="1"/>
            <p:nvPr/>
          </p:nvSpPr>
          <p:spPr>
            <a:xfrm>
              <a:off x="597218" y="6381274"/>
              <a:ext cx="48843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来源：公司PDF第30页及该页照片｜业主、服务边界、验收与绩效数据待补充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ONERGY · 15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8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5" name="Group 5"/>
          <p:cNvGrpSpPr/>
          <p:nvPr/>
        </p:nvGrpSpPr>
        <p:grpSpPr>
          <a:xfrm>
            <a:off x="577215" y="420052"/>
            <a:ext cx="7562707" cy="927736"/>
            <a:chOff x="577215" y="420052"/>
            <a:chExt cx="7562707" cy="927736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1358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04 / 欧洲补充案例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7215" y="829628"/>
              <a:ext cx="778840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三个欧洲项目，体现不同故障场景下的执行能力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5788" y="1445419"/>
            <a:ext cx="3376612" cy="4193381"/>
            <a:chOff x="585788" y="1445419"/>
            <a:chExt cx="3376612" cy="4193381"/>
          </a:xfrm>
        </p:grpSpPr>
        <p:sp>
          <p:nvSpPr>
            <p:cNvPr id="6" name="TextBox 6"/>
            <p:cNvSpPr txBox="1"/>
            <p:nvPr/>
          </p:nvSpPr>
          <p:spPr>
            <a:xfrm>
              <a:off x="585788" y="1445419"/>
              <a:ext cx="28008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保加利亚 · 100 MWh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847850"/>
              <a:ext cx="3352800" cy="25146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586740" y="4587240"/>
              <a:ext cx="294679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光伏配储 / 液冷专项维护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360" y="5052060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设备状态检查与异常排查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4360" y="5394960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成果补充：检查项及关闭记录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95788" y="1445419"/>
            <a:ext cx="3376612" cy="4193381"/>
            <a:chOff x="4395788" y="1445419"/>
            <a:chExt cx="3376612" cy="4193381"/>
          </a:xfrm>
        </p:grpSpPr>
        <p:sp>
          <p:nvSpPr>
            <p:cNvPr id="12" name="TextBox 12"/>
            <p:cNvSpPr txBox="1"/>
            <p:nvPr/>
          </p:nvSpPr>
          <p:spPr>
            <a:xfrm>
              <a:off x="4395788" y="1445419"/>
              <a:ext cx="22674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波兰 · 115 MWh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9600" y="1847850"/>
              <a:ext cx="3352800" cy="25146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396740" y="4587240"/>
              <a:ext cx="24347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储能项目 / 设备维护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04360" y="5052060"/>
              <a:ext cx="18783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柜体结构损伤钣金修复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04360" y="5394960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成果补充：维修与验收记录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205788" y="1445419"/>
            <a:ext cx="3376612" cy="4193381"/>
            <a:chOff x="8205788" y="1445419"/>
            <a:chExt cx="3376612" cy="4193381"/>
          </a:xfrm>
        </p:grpSpPr>
        <p:sp>
          <p:nvSpPr>
            <p:cNvPr id="18" name="TextBox 18"/>
            <p:cNvSpPr txBox="1"/>
            <p:nvPr/>
          </p:nvSpPr>
          <p:spPr>
            <a:xfrm>
              <a:off x="8205788" y="1445419"/>
              <a:ext cx="242614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荷兰 · 容量待补充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9600" y="1847850"/>
              <a:ext cx="3352800" cy="25146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8206740" y="4587240"/>
              <a:ext cx="264980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工商业储能 / PCS恢复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14360" y="5052060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故障诊断、模块更换与调试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14360" y="5394960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成果补充：恢复时间及复测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5312" y="5857875"/>
            <a:ext cx="10987088" cy="383381"/>
            <a:chOff x="595312" y="5857875"/>
            <a:chExt cx="10987088" cy="383381"/>
          </a:xfrm>
        </p:grpSpPr>
        <p:sp>
          <p:nvSpPr>
            <p:cNvPr id="24" name="Line 24"/>
            <p:cNvSpPr/>
            <p:nvPr/>
          </p:nvSpPr>
          <p:spPr>
            <a:xfrm>
              <a:off x="609600" y="5857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595312" y="6012656"/>
              <a:ext cx="69986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原稿另述“20+场站维护”，与波兰单项目的统计关系待确认；不据此宣称三个案例的量化改善。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27" name="TextBox 27"/>
            <p:cNvSpPr txBox="1"/>
            <p:nvPr/>
          </p:nvSpPr>
          <p:spPr>
            <a:xfrm>
              <a:off x="597218" y="6381274"/>
              <a:ext cx="53004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来源：公司PDF第29页｜照片与服务按原稿对应；业主、服务日期和验收结果待补充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ONERGY · 16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7" grpId="0"/>
      <p:bldP spid="23" grpId="0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5" name="Group 5"/>
          <p:cNvGrpSpPr/>
          <p:nvPr/>
        </p:nvGrpSpPr>
        <p:grpSpPr>
          <a:xfrm>
            <a:off x="577215" y="420052"/>
            <a:ext cx="7598412" cy="927736"/>
            <a:chOff x="577215" y="420052"/>
            <a:chExt cx="7598412" cy="927736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20418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05 / 数字化与 AI · 建议方案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7215" y="829628"/>
              <a:ext cx="815111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让小程序成为“服务证据入口”，而非又一个看板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1550" y="1704975"/>
            <a:ext cx="3048000" cy="4086225"/>
            <a:chOff x="971550" y="1704975"/>
            <a:chExt cx="3048000" cy="4086225"/>
          </a:xfrm>
        </p:grpSpPr>
        <p:sp>
          <p:nvSpPr>
            <p:cNvPr id="6" name="Rectangle 6"/>
            <p:cNvSpPr/>
            <p:nvPr/>
          </p:nvSpPr>
          <p:spPr>
            <a:xfrm>
              <a:off x="971550" y="1704975"/>
              <a:ext cx="3048000" cy="4086225"/>
            </a:xfrm>
            <a:prstGeom prst="roundRect">
              <a:avLst>
                <a:gd name="adj" fmla="val 6250"/>
              </a:avLst>
            </a:prstGeom>
            <a:solidFill>
              <a:srgbClr val="142C3A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7" name="Rectangle 7"/>
            <p:cNvSpPr/>
            <p:nvPr/>
          </p:nvSpPr>
          <p:spPr>
            <a:xfrm>
              <a:off x="1104900" y="1885950"/>
              <a:ext cx="2781300" cy="3705225"/>
            </a:xfrm>
            <a:prstGeom prst="roundRect">
              <a:avLst>
                <a:gd name="adj" fmla="val 3425"/>
              </a:avLst>
            </a:prstGeom>
            <a:solidFill>
              <a:srgbClr val="F3F6F8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1305878" y="2141696"/>
              <a:ext cx="15902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现场服务工作台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10640" y="2486978"/>
              <a:ext cx="20305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界面概念示意 · 非上线截图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323975" y="2847975"/>
              <a:ext cx="2343150" cy="9525"/>
            </a:xfrm>
            <a:custGeom>
              <a:avLst/>
              <a:gdLst/>
              <a:ahLst/>
              <a:cxnLst/>
              <a:rect l="l" t="t" r="r" b="b"/>
              <a:pathLst>
                <a:path w="2343150" h="9525">
                  <a:moveTo>
                    <a:pt x="0" y="0"/>
                  </a:moveTo>
                  <a:lnTo>
                    <a:pt x="234315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1304925" y="3048000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任务与授权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04925" y="3457575"/>
              <a:ext cx="166497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现场记录与照片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04925" y="3867150"/>
              <a:ext cx="14516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备件与序列号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04925" y="42767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复测与签认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23975" y="4857750"/>
              <a:ext cx="2343150" cy="447675"/>
            </a:xfrm>
            <a:prstGeom prst="rect">
              <a:avLst/>
            </a:prstGeom>
            <a:solidFill>
              <a:srgbClr val="F58A24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1599056" y="4999196"/>
              <a:ext cx="17929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425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一单关联完整证据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775835" y="1942148"/>
            <a:ext cx="6806565" cy="3882390"/>
            <a:chOff x="4775835" y="1942148"/>
            <a:chExt cx="6806565" cy="3882390"/>
          </a:xfrm>
        </p:grpSpPr>
        <p:sp>
          <p:nvSpPr>
            <p:cNvPr id="18" name="TextBox 18"/>
            <p:cNvSpPr txBox="1"/>
            <p:nvPr/>
          </p:nvSpPr>
          <p:spPr>
            <a:xfrm>
              <a:off x="4775835" y="1942148"/>
              <a:ext cx="433197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对现场：减少记录散落与重复填报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85360" y="2442210"/>
              <a:ext cx="32438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照片、测试、部件和动作关联到同一工单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800600" y="2914650"/>
              <a:ext cx="6781800" cy="9525"/>
            </a:xfrm>
            <a:custGeom>
              <a:avLst/>
              <a:gdLst/>
              <a:ahLst/>
              <a:cxnLst/>
              <a:rect l="l" t="t" r="r" b="b"/>
              <a:pathLst>
                <a:path w="6781800" h="9525">
                  <a:moveTo>
                    <a:pt x="0" y="0"/>
                  </a:moveTo>
                  <a:lnTo>
                    <a:pt x="6781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4775835" y="3199448"/>
              <a:ext cx="460933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对厂商：看见进度，也看见结果依据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85360" y="3699510"/>
              <a:ext cx="35852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授权、异常升级、恢复验证和客户签认可追溯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800600" y="4171950"/>
              <a:ext cx="6781800" cy="9525"/>
            </a:xfrm>
            <a:custGeom>
              <a:avLst/>
              <a:gdLst/>
              <a:ahLst/>
              <a:cxnLst/>
              <a:rect l="l" t="t" r="r" b="b"/>
              <a:pathLst>
                <a:path w="6781800" h="9525">
                  <a:moveTo>
                    <a:pt x="0" y="0"/>
                  </a:moveTo>
                  <a:lnTo>
                    <a:pt x="6781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4775835" y="4456748"/>
              <a:ext cx="433197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对管理：让复盘建立在完整证据上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85360" y="4956810"/>
              <a:ext cx="37558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按问题类型、等待环节和复发情况检视服务表现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83455" y="5550218"/>
              <a:ext cx="45880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落地前需确认权限、客户数据隔离与跨境数据安排。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28" name="TextBox 28"/>
            <p:cNvSpPr txBox="1"/>
            <p:nvPr/>
          </p:nvSpPr>
          <p:spPr>
            <a:xfrm>
              <a:off x="597218" y="6381274"/>
              <a:ext cx="55263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建议方案｜原稿第17、24页提供工单/数据能力语境，未提供小程序上线或运行效果证据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ONERGY · 17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C3A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75310" y="420052"/>
            <a:ext cx="8064279" cy="1513523"/>
            <a:chOff x="575310" y="420052"/>
            <a:chExt cx="8064279" cy="1513523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20418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F58A24"/>
                  </a:solidFill>
                  <a:latin typeface="Noto Sans CJK SC"/>
                  <a:ea typeface="Noto Sans CJK SC"/>
                  <a:cs typeface="Noto Sans CJK SC"/>
                </a:rPr>
                <a:t>05 / 数字化与 AI · 建议方案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5310" y="927735"/>
              <a:ext cx="831246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AI 的价值：更早识别、更快定位、更少重复劳动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6740" y="1567815"/>
              <a:ext cx="682828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重点不是增加一个模型，而是改善工程师作出判断的条件。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2600325"/>
            <a:ext cx="2403157" cy="1800225"/>
            <a:chOff x="571500" y="2600325"/>
            <a:chExt cx="2403157" cy="1800225"/>
          </a:xfrm>
        </p:grpSpPr>
        <p:sp>
          <p:nvSpPr>
            <p:cNvPr id="7" name="TextBox 7"/>
            <p:cNvSpPr txBox="1"/>
            <p:nvPr/>
          </p:nvSpPr>
          <p:spPr>
            <a:xfrm>
              <a:off x="571500" y="2600325"/>
              <a:ext cx="102489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F58A24"/>
                  </a:solidFill>
                  <a:latin typeface="Noto Sans CJK SC"/>
                  <a:ea typeface="Noto Sans CJK SC"/>
                  <a:cs typeface="Noto Sans CJK SC"/>
                </a:rPr>
                <a:t>更早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4835" y="3266122"/>
              <a:ext cx="266776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发现值得关注的变化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360" y="3813810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关联异常趋势与运行工况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4360" y="4156710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把巡检重点前置到风险出现时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162425" y="2600325"/>
            <a:ext cx="2419350" cy="1952625"/>
            <a:chOff x="4162425" y="2600325"/>
            <a:chExt cx="2419350" cy="1952625"/>
          </a:xfrm>
        </p:grpSpPr>
        <p:sp>
          <p:nvSpPr>
            <p:cNvPr id="12" name="Line 12"/>
            <p:cNvSpPr/>
            <p:nvPr/>
          </p:nvSpPr>
          <p:spPr>
            <a:xfrm>
              <a:off x="4162425" y="2638425"/>
              <a:ext cx="171450" cy="1914525"/>
            </a:xfrm>
            <a:custGeom>
              <a:avLst/>
              <a:gdLst/>
              <a:ahLst/>
              <a:cxnLst/>
              <a:rect l="l" t="t" r="r" b="b"/>
              <a:pathLst>
                <a:path w="9525" h="1914525">
                  <a:moveTo>
                    <a:pt x="0" y="0"/>
                  </a:moveTo>
                  <a:lnTo>
                    <a:pt x="0" y="1914525"/>
                  </a:lnTo>
                </a:path>
              </a:pathLst>
            </a:custGeom>
            <a:noFill/>
            <a:ln w="9525">
              <a:solidFill>
                <a:srgbClr val="627582"/>
              </a:solidFill>
            </a:ln>
          </p:spPr>
          <p:txBody>
            <a:bodyPr wrap="none">
              <a:noAutofit/>
            </a:bodyPr>
            <a:p>
              <a:p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38650" y="2600325"/>
              <a:ext cx="102489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F58A24"/>
                  </a:solidFill>
                  <a:latin typeface="Noto Sans CJK SC"/>
                  <a:ea typeface="Noto Sans CJK SC"/>
                  <a:cs typeface="Noto Sans CJK SC"/>
                </a:rPr>
                <a:t>更快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51985" y="3266122"/>
              <a:ext cx="239039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缩小故障排查范围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61510" y="3813810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检索相似案例、组织候选原因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61510" y="4156710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减少跨时区知识查找的等待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39100" y="2600325"/>
            <a:ext cx="2688907" cy="1952625"/>
            <a:chOff x="8039100" y="2600325"/>
            <a:chExt cx="2688907" cy="1952625"/>
          </a:xfrm>
        </p:grpSpPr>
        <p:sp>
          <p:nvSpPr>
            <p:cNvPr id="18" name="Line 18"/>
            <p:cNvSpPr/>
            <p:nvPr/>
          </p:nvSpPr>
          <p:spPr>
            <a:xfrm>
              <a:off x="8039100" y="2638425"/>
              <a:ext cx="171450" cy="1914525"/>
            </a:xfrm>
            <a:custGeom>
              <a:avLst/>
              <a:gdLst/>
              <a:ahLst/>
              <a:cxnLst/>
              <a:rect l="l" t="t" r="r" b="b"/>
              <a:pathLst>
                <a:path w="9525" h="1914525">
                  <a:moveTo>
                    <a:pt x="0" y="0"/>
                  </a:moveTo>
                  <a:lnTo>
                    <a:pt x="0" y="1914525"/>
                  </a:lnTo>
                </a:path>
              </a:pathLst>
            </a:custGeom>
            <a:noFill/>
            <a:ln w="9525">
              <a:solidFill>
                <a:srgbClr val="627582"/>
              </a:solidFill>
            </a:ln>
          </p:spPr>
          <p:txBody>
            <a:bodyPr wrap="none">
              <a:noAutofit/>
            </a:bodyPr>
            <a:p>
              <a:p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4850" y="2600325"/>
              <a:ext cx="102489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F58A24"/>
                  </a:solidFill>
                  <a:latin typeface="Noto Sans CJK SC"/>
                  <a:ea typeface="Noto Sans CJK SC"/>
                  <a:cs typeface="Noto Sans CJK SC"/>
                </a:rPr>
                <a:t>更少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8185" y="3266122"/>
              <a:ext cx="266776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重复整理与记录遗漏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7710" y="3813810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辅助形成工单摘要与复盘初稿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47710" y="4156710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让工程师把时间留给技术判断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86740" y="5029200"/>
            <a:ext cx="10995660" cy="995362"/>
            <a:chOff x="586740" y="5029200"/>
            <a:chExt cx="10995660" cy="995362"/>
          </a:xfrm>
        </p:grpSpPr>
        <p:sp>
          <p:nvSpPr>
            <p:cNvPr id="24" name="Line 24"/>
            <p:cNvSpPr/>
            <p:nvPr/>
          </p:nvSpPr>
          <p:spPr>
            <a:xfrm>
              <a:off x="609600" y="502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627582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586740" y="5311140"/>
              <a:ext cx="606018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工程师复核、厂商授权、安全审批，仍是执行边界。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2455" y="5750242"/>
              <a:ext cx="8044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先用真实工单验证误报、定位效率与工程师采纳情况，再讨论规模化；当前效果数据待补充。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28" name="TextBox 28"/>
            <p:cNvSpPr txBox="1"/>
            <p:nvPr/>
          </p:nvSpPr>
          <p:spPr>
            <a:xfrm>
              <a:off x="597218" y="6381274"/>
              <a:ext cx="50421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建议方案｜原稿第23、24页为诊断与决策支持方向，不构成AI已部署或绩效证明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ONERGY · 18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7" grpId="0"/>
      <p:bldP spid="23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77215" y="420052"/>
            <a:ext cx="6491573" cy="1208723"/>
            <a:chOff x="577215" y="420052"/>
            <a:chExt cx="6491573" cy="1208723"/>
          </a:xfrm>
        </p:grpSpPr>
        <p:sp>
          <p:nvSpPr>
            <p:cNvPr id="3" name="TextBox 3"/>
            <p:cNvSpPr txBox="1"/>
            <p:nvPr/>
          </p:nvSpPr>
          <p:spPr>
            <a:xfrm>
              <a:off x="596265" y="420052"/>
              <a:ext cx="10601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06 / 合作方式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7215" y="829628"/>
              <a:ext cx="67002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合作从清晰的服务边界与可验收试点开始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1384935"/>
              <a:ext cx="58041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不必从“大而全”开始；先找到一个能交付、能评价、能复盘的具体范围。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81025" y="2194560"/>
            <a:ext cx="3381375" cy="2901315"/>
            <a:chOff x="581025" y="2194560"/>
            <a:chExt cx="3381375" cy="2901315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2194560"/>
              <a:ext cx="6835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范围一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1025" y="2557462"/>
              <a:ext cx="17716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单项目专项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31242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38100">
              <a:solidFill>
                <a:srgbClr val="F58A24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594360" y="3461385"/>
              <a:ext cx="18783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调试、检修或故障恢复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4360" y="386143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约定站点、设备与具体任务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4360" y="4461510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验收看什么？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360" y="4852035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测试结果、遗留项与签认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91025" y="2194560"/>
            <a:ext cx="3381375" cy="2901315"/>
            <a:chOff x="4391025" y="2194560"/>
            <a:chExt cx="3381375" cy="2901315"/>
          </a:xfrm>
        </p:grpSpPr>
        <p:sp>
          <p:nvSpPr>
            <p:cNvPr id="15" name="TextBox 15"/>
            <p:cNvSpPr txBox="1"/>
            <p:nvPr/>
          </p:nvSpPr>
          <p:spPr>
            <a:xfrm>
              <a:off x="4404360" y="2194560"/>
              <a:ext cx="6835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范围二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91025" y="2557462"/>
              <a:ext cx="209169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区域现场支持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419600" y="31242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38100">
              <a:solidFill>
                <a:srgbClr val="F58A24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4404360" y="3461385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响应资源与本地备件支持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04360" y="386143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约定区域、窗口与授权边界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04360" y="4461510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验收看什么？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4360" y="4852035"/>
              <a:ext cx="18783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到场、恢复与完整工单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201025" y="2194560"/>
            <a:ext cx="3381375" cy="2901315"/>
            <a:chOff x="8201025" y="2194560"/>
            <a:chExt cx="3381375" cy="2901315"/>
          </a:xfrm>
        </p:grpSpPr>
        <p:sp>
          <p:nvSpPr>
            <p:cNvPr id="23" name="TextBox 23"/>
            <p:cNvSpPr txBox="1"/>
            <p:nvPr/>
          </p:nvSpPr>
          <p:spPr>
            <a:xfrm>
              <a:off x="8214360" y="2194560"/>
              <a:ext cx="6835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范围三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01025" y="2557462"/>
              <a:ext cx="209169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持续运维支持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229600" y="31242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38100">
              <a:solidFill>
                <a:srgbClr val="F58A24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346138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巡检、预防维护与周期复盘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14360" y="3861435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约定指标口径与维护计划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14360" y="4461510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验收看什么？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14360" y="4852035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风险关闭、复发及可用性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5467350"/>
            <a:ext cx="10972800" cy="571500"/>
            <a:chOff x="609600" y="5467350"/>
            <a:chExt cx="10972800" cy="571500"/>
          </a:xfrm>
        </p:grpSpPr>
        <p:sp>
          <p:nvSpPr>
            <p:cNvPr id="31" name="Rectangle 31"/>
            <p:cNvSpPr/>
            <p:nvPr/>
          </p:nvSpPr>
          <p:spPr>
            <a:xfrm>
              <a:off x="609600" y="5467350"/>
              <a:ext cx="10972800" cy="571500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822960" y="5709285"/>
              <a:ext cx="56334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先核实现场条件与历史基线，再约定责任、时效、数据权限和验收证据。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97218" y="6381274"/>
            <a:ext cx="10997565" cy="198120"/>
            <a:chOff x="597218" y="6381274"/>
            <a:chExt cx="10997565" cy="198120"/>
          </a:xfrm>
        </p:grpSpPr>
        <p:sp>
          <p:nvSpPr>
            <p:cNvPr id="34" name="TextBox 34"/>
            <p:cNvSpPr txBox="1"/>
            <p:nvPr/>
          </p:nvSpPr>
          <p:spPr>
            <a:xfrm>
              <a:off x="597218" y="6381274"/>
              <a:ext cx="53027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建议合作范围｜非既有合同或绩效承诺；具体国家、资格、责任和商务条件另行约定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56145" y="6381274"/>
              <a:ext cx="133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ONERGY · 19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22" grpId="0"/>
      <p:bldP spid="30" grpId="0"/>
      <p:bldP spid="3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C3A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5" name="Group 5"/>
          <p:cNvGrpSpPr/>
          <p:nvPr/>
        </p:nvGrpSpPr>
        <p:grpSpPr>
          <a:xfrm>
            <a:off x="609600" y="438150"/>
            <a:ext cx="1371600" cy="590550"/>
            <a:chOff x="609600" y="438150"/>
            <a:chExt cx="1371600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38150"/>
              <a:ext cx="137160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850" y="504825"/>
              <a:ext cx="1181100" cy="45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558165" y="1723072"/>
            <a:ext cx="5206508" cy="2025016"/>
            <a:chOff x="558165" y="1723072"/>
            <a:chExt cx="5206508" cy="2025016"/>
          </a:xfrm>
        </p:grpSpPr>
        <p:sp>
          <p:nvSpPr>
            <p:cNvPr id="6" name="TextBox 6"/>
            <p:cNvSpPr txBox="1"/>
            <p:nvPr/>
          </p:nvSpPr>
          <p:spPr>
            <a:xfrm>
              <a:off x="565785" y="1723072"/>
              <a:ext cx="4588002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450" b="1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让每一次现场行动，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8165" y="2410778"/>
              <a:ext cx="5356098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050" b="1" dirty="0">
                  <a:solidFill>
                    <a:srgbClr val="F58A24"/>
                  </a:solidFill>
                  <a:latin typeface="Noto Sans CJK SC"/>
                  <a:ea typeface="Noto Sans CJK SC"/>
                  <a:cs typeface="Noto Sans CJK SC"/>
                </a:rPr>
                <a:t>都回到长期可用性。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4835" y="3351848"/>
              <a:ext cx="488670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从一个明确的欧洲服务试点开始合作。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5788" y="4095750"/>
            <a:ext cx="10996612" cy="1628775"/>
            <a:chOff x="585788" y="4095750"/>
            <a:chExt cx="10996612" cy="1628775"/>
          </a:xfrm>
        </p:grpSpPr>
        <p:sp>
          <p:nvSpPr>
            <p:cNvPr id="10" name="Line 10"/>
            <p:cNvSpPr/>
            <p:nvPr/>
          </p:nvSpPr>
          <p:spPr>
            <a:xfrm>
              <a:off x="609600" y="4095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627582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594360" y="4451985"/>
              <a:ext cx="15369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58A24"/>
                  </a:solidFill>
                  <a:latin typeface="Noto Sans CJK SC"/>
                  <a:ea typeface="Noto Sans CJK SC"/>
                  <a:cs typeface="Noto Sans CJK SC"/>
                </a:rPr>
                <a:t>我们希望一起确认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5788" y="4922044"/>
              <a:ext cx="23050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哪些国家与设备？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52938" y="4922044"/>
              <a:ext cx="2571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最关键的失效场景？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9138" y="4922044"/>
              <a:ext cx="2571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怎样衡量服务结果？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0550" y="5419725"/>
              <a:ext cx="166497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站点与准入条件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57700" y="5419725"/>
              <a:ext cx="20916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技术边界与现场资源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43900" y="5419725"/>
              <a:ext cx="23050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基线、口径与验收证据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6265" y="6335078"/>
            <a:ext cx="10999470" cy="213360"/>
            <a:chOff x="596265" y="6335078"/>
            <a:chExt cx="10999470" cy="213360"/>
          </a:xfrm>
        </p:grpSpPr>
        <p:sp>
          <p:nvSpPr>
            <p:cNvPr id="19" name="TextBox 19"/>
            <p:cNvSpPr txBox="1"/>
            <p:nvPr/>
          </p:nvSpPr>
          <p:spPr>
            <a:xfrm>
              <a:off x="596265" y="6335078"/>
              <a:ext cx="27637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苏州市历橙新能源有限公司 · ONERGY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67270" y="6335078"/>
              <a:ext cx="628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050" dirty="0">
                  <a:solidFill>
                    <a:srgbClr val="D7E1E7"/>
                  </a:solidFill>
                  <a:latin typeface="Noto Sans CJK SC"/>
                  <a:ea typeface="Noto Sans CJK SC"/>
                  <a:cs typeface="Noto Sans CJK SC"/>
                </a:rPr>
                <a:t>20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