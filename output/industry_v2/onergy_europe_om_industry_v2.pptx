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以欧洲储能设备厂商售后负责人的经营视角，讨论交付落地、可用能力、成本风险与本地生态。</a:t>
            </a:r>
          </a:p>
          <a:p>
            <a:endParaRPr lang="zh-CN" dirty="0"/>
          </a:p>
          <a:p>
            <a:r>
              <a:rPr lang="zh-CN" dirty="0"/>
              <a:t>依据与边界：用户主题与最新修改要求。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订单的地理扩张与售后责任的长期积累不是同一条曲线。设备装机后，故障暴露、版本维护、质保和本地执行的任务会持续存在。这里是经营机制判断，不引用未经核实的市场总量。</a:t>
            </a:r>
          </a:p>
          <a:p>
            <a:endParaRPr lang="zh-CN" dirty="0"/>
          </a:p>
          <a:p>
            <a:r>
              <a:rPr lang="zh-CN" dirty="0"/>
              <a:t>依据与边界：行业机制分析；非统计结论。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跨国服务不能把旅行距离等同于到场能力。现场准入、电气资格、语言和客户规则、项目运行窗口、备件运输以及数据/远程权限均可能改变履约条件。具体要求逐国逐项目确认。</a:t>
            </a:r>
          </a:p>
          <a:p>
            <a:endParaRPr lang="zh-CN" dirty="0"/>
          </a:p>
          <a:p>
            <a:r>
              <a:rPr lang="zh-CN" dirty="0"/>
              <a:t>依据与边界：行业机制分析；非统计结论。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保留用户六层：物流保证到达，仓储管理可得性，诊断缩小原因，维修验证恢复，运营把结果反馈到决策，资产流通处理维修经济性和剩余价值。六层不是必须自建的六个部门，而是需要明确责任和接口的行业能力。</a:t>
            </a:r>
          </a:p>
          <a:p>
            <a:endParaRPr lang="zh-CN" dirty="0"/>
          </a:p>
          <a:p>
            <a:r>
              <a:rPr lang="zh-CN" dirty="0"/>
              <a:t>依据与边界：行业机制分析；非统计结论。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测算示例假设50MW/100MWh项目，在一个2小时计划窗口内少交付10MW、边际贡献80欧元/MWh，则机会贡献损失为10×2×80=1600欧元。仅限假设，不含合同罚则、退化、税费和后续恢复；无法代表欧洲平均水平。</a:t>
            </a:r>
          </a:p>
          <a:p>
            <a:endParaRPr lang="zh-CN" dirty="0"/>
          </a:p>
          <a:p>
            <a:r>
              <a:rPr lang="zh-CN" dirty="0"/>
              <a:t>依据与边界：假设测算；非实际项目收益。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假设一天24小时，前20小时可用50MW，后4小时仅可用40MW；从未完全停机，但功率加权可用能力为(50×20+40×4)/(50×24)=96.7%。技术可用率应明确部分降额、时间窗口和排除项，不能直接等同于商业收益。</a:t>
            </a:r>
          </a:p>
          <a:p>
            <a:endParaRPr lang="zh-CN" dirty="0"/>
          </a:p>
          <a:p>
            <a:r>
              <a:rPr lang="zh-CN" dirty="0"/>
              <a:t>依据与边界：假设测算；非行业实测。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从发现到确认、资源可得、到场处置、复测交接，每个等待阶段都会延长总恢复时间。只压缩现场维修工时可能没有改善总周期，应分别记录P50、P90及排除项。</a:t>
            </a:r>
          </a:p>
          <a:p>
            <a:endParaRPr lang="zh-CN" dirty="0"/>
          </a:p>
          <a:p>
            <a:r>
              <a:rPr lang="zh-CN" dirty="0"/>
              <a:t>依据与边界：行业运维分析；具体合同/国家要求另核验。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首次响应、远程有效诊断、符合准入的到场、恢复关键能力和完整关闭是不同事件。约定起止、服务日历、故障等级、许可与备件等待、部分恢复，以及验收人，比统一小时数更关键。</a:t>
            </a:r>
          </a:p>
          <a:p>
            <a:endParaRPr lang="zh-CN" dirty="0"/>
          </a:p>
          <a:p>
            <a:r>
              <a:rPr lang="zh-CN" dirty="0"/>
              <a:t>依据与边界：行业运维分析；具体合同/国家要求另核验。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用项目密度、关键部件共性、跨境可达性与资质可用性决定支点，而不是每国设办公室。轻故障可远程解决，现场人员与备件区域前置，复杂维修集中化；对高后果故障保留兜底路径。</a:t>
            </a:r>
          </a:p>
          <a:p>
            <a:endParaRPr lang="zh-CN" dirty="0"/>
          </a:p>
          <a:p>
            <a:r>
              <a:rPr lang="zh-CN" dirty="0"/>
              <a:t>依据与边界：行业运维分析；具体合同/国家要求另核验。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测算示例假设年库存持有成本3000欧元、每次缺件额外等待5个受影响运行日、每日贡献损失1600欧元，则仅以这些成本计算，年缺件频次临界值3000/(5×1600)=0.375次。频率、等待、共享库存和残值改变结论，不等于采购建议。</a:t>
            </a:r>
          </a:p>
          <a:p>
            <a:endParaRPr lang="zh-CN" dirty="0"/>
          </a:p>
          <a:p>
            <a:r>
              <a:rPr lang="zh-CN" dirty="0"/>
              <a:t>依据与边界：行业运维分析；具体合同/国家要求另核验。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远程定位需要把异常时序、版本和工况组织为现场可验证的假设。交接资料包括当前配置、授权边界、验证方法和恢复标准；调试资料缺失会在质保期被重复支付排查成本。</a:t>
            </a:r>
          </a:p>
          <a:p>
            <a:endParaRPr lang="zh-CN" dirty="0"/>
          </a:p>
          <a:p>
            <a:r>
              <a:rPr lang="zh-CN" dirty="0"/>
              <a:t>依据与边界：行业运维分析；具体合同/国家要求另核验。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维护优先级看失效后果、可提前发现程度、异常是否反复以及可执行窗口。以热管理、辅助系统、通信控制和电气连接的系统性问题为例，不把电池维护单独成章。维护效果看风险闭环与后续复发，不用巡检次数代替。</a:t>
            </a:r>
          </a:p>
          <a:p>
            <a:endParaRPr lang="zh-CN" dirty="0"/>
          </a:p>
          <a:p>
            <a:r>
              <a:rPr lang="zh-CN" dirty="0"/>
              <a:t>依据与边界：行业运维分析；具体合同/国家要求另核验。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对比维修与更换不能只比较工时报价，需纳入全恢复周期、寿命/可靠性、兼容性、质保与取证成本；退役件的再利用、残值和去向由证据与合规边界决定，不能把旧件残值当确定收入。</a:t>
            </a:r>
          </a:p>
          <a:p>
            <a:endParaRPr lang="zh-CN" dirty="0"/>
          </a:p>
          <a:p>
            <a:r>
              <a:rPr lang="zh-CN" dirty="0"/>
              <a:t>依据与边界：行业运维分析；具体合同/国家要求另核验。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诊断执行、技术变更批准、根因和质保认定、运行恢复验收是四项不同责任。保全原始状态，明确谁授权谁签认，以免未留证据的抢修引发质保争议。这里是合同治理建议，非法律意见。</a:t>
            </a:r>
          </a:p>
          <a:p>
            <a:endParaRPr lang="zh-CN" dirty="0"/>
          </a:p>
          <a:p>
            <a:r>
              <a:rPr lang="zh-CN" dirty="0"/>
              <a:t>依据与边界：行业运维分析；具体合同/国家要求另核验。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一个事件ID串联告警、版本、授权、到场、备件序列号、测试与签认，先让记录完整可追溯。小程序适合现场采集，不替代所有现有系统；客户数据隔离、权限、脱敏及跨境安排依项目核验。</a:t>
            </a:r>
          </a:p>
          <a:p>
            <a:endParaRPr lang="zh-CN" dirty="0"/>
          </a:p>
          <a:p>
            <a:r>
              <a:rPr lang="zh-CN" dirty="0"/>
              <a:t>依据与边界：行业运维分析；具体合同/国家要求另核验。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AI优先服务于相似案例检索、候选原因排序和工单摘要，输出证据和不确定性。工程师复核、厂商授权和安全审批不取消。用每单人工判断时间、无效派工/误报及工程师采纳度衡量，不仅展示模型准确率。</a:t>
            </a:r>
          </a:p>
          <a:p>
            <a:endParaRPr lang="zh-CN" dirty="0"/>
          </a:p>
          <a:p>
            <a:r>
              <a:rPr lang="zh-CN" dirty="0"/>
              <a:t>依据与边界：行业运维分析；具体合同/国家要求另核验。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服务表现看分段时效与复发，资产影响看降额时长和关键窗口，经济性看每类故障全成本与质保回收。指标必须共用事件口径，分层看P90而非只看平均值；不把业务结果全归因于服务商。</a:t>
            </a:r>
          </a:p>
          <a:p>
            <a:endParaRPr lang="zh-CN" dirty="0"/>
          </a:p>
          <a:p>
            <a:r>
              <a:rPr lang="zh-CN" dirty="0"/>
              <a:t>依据与边界：行业运维分析；具体合同/国家要求另核验。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以代表性故障与项目条件验证真实响应资源、授权和恢复验收，并用历史工单回放长尾场景；先同口径建立基线，再评价改善。采购不是购买一份全欧洲覆盖表，先看履约路径的可证实性。</a:t>
            </a:r>
          </a:p>
          <a:p>
            <a:endParaRPr lang="zh-CN" dirty="0"/>
          </a:p>
          <a:p>
            <a:r>
              <a:rPr lang="zh-CN" dirty="0"/>
              <a:t>依据与边界：行业运维分析；具体合同/国家要求另核验。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公司材料披露2024创立、欧洲运营中心布达佩斯、仓储维修区域约8000平方米。能力语境包括现场调测、运维、仓储维修和国内技术支持；不把全部六层延伸宣称成已具备资质的业务。</a:t>
            </a:r>
          </a:p>
          <a:p>
            <a:endParaRPr lang="zh-CN" dirty="0"/>
          </a:p>
          <a:p>
            <a:r>
              <a:rPr lang="zh-CN" dirty="0"/>
              <a:t>依据与边界：公司PDF第1、9、14、19—21、27页。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原稿第30页匈牙利100MWh光伏配储：变压器诊断调试、PCS校验通电、安规与功能验证。真实服务内容保留；MW功率、时间、验收与量化表现待补充，不虚构恢复效果。</a:t>
            </a:r>
          </a:p>
          <a:p>
            <a:endParaRPr lang="zh-CN" dirty="0"/>
          </a:p>
          <a:p>
            <a:r>
              <a:rPr lang="zh-CN" dirty="0"/>
              <a:t>依据与边界：公司PDF第30页。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原稿第29页：保加利亚100MWh液冷维护；波兰115MWh设备维护和柜体修复；荷兰工商业PCS诊断、更换与调试，容量未知。20+场站与波兰单项目统计关系待确认。</a:t>
            </a:r>
          </a:p>
          <a:p>
            <a:endParaRPr lang="zh-CN" dirty="0"/>
          </a:p>
          <a:p>
            <a:r>
              <a:rPr lang="zh-CN" dirty="0"/>
              <a:t>依据与边界：公司PDF第29页。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回到六层：真正需要的是让资源可得、动作获准、结果可验，而非所有能力由一家自建。合作讨论从国家/设备、关键故障和验收口径开始，选择一个可复盘的试点。</a:t>
            </a:r>
          </a:p>
          <a:p>
            <a:endParaRPr lang="zh-CN" dirty="0"/>
          </a:p>
          <a:p>
            <a:r>
              <a:rPr lang="zh-CN" dirty="0"/>
              <a:t>依据与边界：合作建议；非现有绩效承诺。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_f6a4ed0157c42d92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_f6a4ed0157c42d9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_f6a4ed0157c42d9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_f6a4ed0157c42d9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_f6a4ed0157c42d9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_f6a4ed0157c42d9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_f6a4ed0157c42d9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_f6a4ed0157c42d92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_f6a4ed0157c42d92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_f6a4ed0157c42d92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_f6a4ed0157c42d92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_f6a4ed0157c42d9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_f6a4ed0157c42d92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_f6a4ed0157c42d92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_f6a4ed0157c42d92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_f6a4ed0157c42d92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_f6a4ed0157c42d92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_f6a4ed0157c42d92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_f6a4ed0157c42d92.png"/><Relationship Id="rId3" Type="http://schemas.openxmlformats.org/officeDocument/2006/relationships/image" Target="../media/image_b6988a528658a21f.jpg"/><Relationship Id="rId4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_f6a4ed0157c42d92.png"/><Relationship Id="rId3" Type="http://schemas.openxmlformats.org/officeDocument/2006/relationships/image" Target="../media/image_2195bb073e3b24dc.jpg"/><Relationship Id="rId4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_f6a4ed0157c42d92.png"/><Relationship Id="rId3" Type="http://schemas.openxmlformats.org/officeDocument/2006/relationships/image" Target="../media/image_cc43203838cad9c2.jpg"/><Relationship Id="rId4" Type="http://schemas.openxmlformats.org/officeDocument/2006/relationships/image" Target="../media/image_3144a8716a76eba4.jpg"/><Relationship Id="rId5" Type="http://schemas.openxmlformats.org/officeDocument/2006/relationships/image" Target="../media/image_47b975d1dbb44e4f.jpg"/><Relationship Id="rId6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_f6a4ed0157c42d92.png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>
            <a:noAutofit/>
          </a:bodyPr>
          <a:p/>
        </p:txBody>
      </p:sp>
      <p:grpSp>
        <p:nvGrpSpPr>
          <p:cNvPr id="6" name="Group 6"/>
          <p:cNvGrpSpPr/>
          <p:nvPr/>
        </p:nvGrpSpPr>
        <p:grpSpPr>
          <a:xfrm>
            <a:off x="596265" y="228600"/>
            <a:ext cx="10998517" cy="6405562"/>
            <a:chOff x="596265" y="228600"/>
            <a:chExt cx="10998517" cy="6405562"/>
          </a:xfrm>
        </p:grpSpPr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515600" y="228600"/>
              <a:ext cx="1066800" cy="409575"/>
            </a:xfrm>
            <a:prstGeom prst="rect">
              <a:avLst/>
            </a:prstGeom>
          </p:spPr>
        </p:pic>
        <p:sp>
          <p:nvSpPr>
            <p:cNvPr id="4" name="TextBox 4"/>
            <p:cNvSpPr txBox="1"/>
            <p:nvPr/>
          </p:nvSpPr>
          <p:spPr>
            <a:xfrm>
              <a:off x="596265" y="6420802"/>
              <a:ext cx="169843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05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历橙 你的能源历程伙伴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998987" y="6428899"/>
              <a:ext cx="5957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/>
              <a:r>
                <a:rPr lang="zh-CN" sz="975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01 / 22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60070" y="1013460"/>
            <a:ext cx="5396865" cy="3444240"/>
            <a:chOff x="560070" y="1013460"/>
            <a:chExt cx="5396865" cy="3444240"/>
          </a:xfrm>
        </p:grpSpPr>
        <p:sp>
          <p:nvSpPr>
            <p:cNvPr id="7" name="TextBox 7"/>
            <p:cNvSpPr txBox="1"/>
            <p:nvPr/>
          </p:nvSpPr>
          <p:spPr>
            <a:xfrm>
              <a:off x="594360" y="1013460"/>
              <a:ext cx="383240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087CC1"/>
                  </a:solidFill>
                  <a:latin typeface="Noto Sans CJK SC"/>
                  <a:ea typeface="Noto Sans CJK SC"/>
                  <a:cs typeface="Noto Sans CJK SC"/>
                </a:rPr>
                <a:t>欧洲储能运维 · 设备厂商售后负责人的经营视角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60070" y="1922145"/>
              <a:ext cx="4609338" cy="792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900" b="1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设备已“出海”，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60070" y="2741295"/>
              <a:ext cx="4054602" cy="792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900" b="1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服务难“落地”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609600" y="3629025"/>
              <a:ext cx="1314450" cy="57150"/>
            </a:xfrm>
            <a:prstGeom prst="rect">
              <a:avLst/>
            </a:prstGeom>
            <a:solidFill>
              <a:srgbClr val="087CC1"/>
            </a:solidFill>
            <a:ln>
              <a:noFill/>
            </a:ln>
          </p:spPr>
          <p:txBody>
            <a:bodyPr wrap="none">
              <a:noAutofit/>
            </a:bodyPr>
            <a:p/>
          </p:txBody>
        </p:sp>
        <p:sp>
          <p:nvSpPr>
            <p:cNvPr id="11" name="TextBox 11"/>
            <p:cNvSpPr txBox="1"/>
            <p:nvPr/>
          </p:nvSpPr>
          <p:spPr>
            <a:xfrm>
              <a:off x="582930" y="4030980"/>
              <a:ext cx="5846826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100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从卖出设备，到兑现全生命周期的服务责任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524750" y="1733550"/>
            <a:ext cx="3475387" cy="3629025"/>
            <a:chOff x="7524750" y="1733550"/>
            <a:chExt cx="3475387" cy="3629025"/>
          </a:xfrm>
        </p:grpSpPr>
        <p:sp>
          <p:nvSpPr>
            <p:cNvPr id="13" name="Line 13"/>
            <p:cNvSpPr/>
            <p:nvPr/>
          </p:nvSpPr>
          <p:spPr>
            <a:xfrm>
              <a:off x="7524750" y="1733550"/>
              <a:ext cx="171450" cy="3629025"/>
            </a:xfrm>
            <a:custGeom>
              <a:avLst/>
              <a:gdLst/>
              <a:ahLst/>
              <a:cxnLst/>
              <a:rect l="l" t="t" r="r" b="b"/>
              <a:pathLst>
                <a:path w="9525" h="3629025">
                  <a:moveTo>
                    <a:pt x="0" y="0"/>
                  </a:moveTo>
                  <a:lnTo>
                    <a:pt x="0" y="3629025"/>
                  </a:lnTo>
                </a:path>
              </a:pathLst>
            </a:custGeom>
            <a:noFill/>
            <a:ln w="9525">
              <a:solidFill>
                <a:srgbClr val="D7E1E7"/>
              </a:solidFill>
            </a:ln>
          </p:spPr>
          <p:txBody>
            <a:bodyPr wrap="none">
              <a:noAutofit/>
            </a:bodyPr>
            <a:p>
              <a:pPr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021955" y="2145030"/>
              <a:ext cx="2262378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100" dirty="0">
                  <a:solidFill>
                    <a:srgbClr val="B94B00"/>
                  </a:solidFill>
                  <a:latin typeface="Noto Sans CJK SC"/>
                  <a:ea typeface="Noto Sans CJK SC"/>
                  <a:cs typeface="Noto Sans CJK SC"/>
                </a:rPr>
                <a:t>资源能否到位？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021955" y="3078480"/>
              <a:ext cx="2262378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100" dirty="0">
                  <a:solidFill>
                    <a:srgbClr val="B94B00"/>
                  </a:solidFill>
                  <a:latin typeface="Noto Sans CJK SC"/>
                  <a:ea typeface="Noto Sans CJK SC"/>
                  <a:cs typeface="Noto Sans CJK SC"/>
                </a:rPr>
                <a:t>恢复能否验证？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021955" y="4011930"/>
              <a:ext cx="2561082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100" dirty="0">
                  <a:solidFill>
                    <a:srgbClr val="B94B00"/>
                  </a:solidFill>
                  <a:latin typeface="Noto Sans CJK SC"/>
                  <a:ea typeface="Noto Sans CJK SC"/>
                  <a:cs typeface="Noto Sans CJK SC"/>
                </a:rPr>
                <a:t>经济账能否算清？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031480" y="4988242"/>
              <a:ext cx="341585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行业机制 · 经营测算 · 本地服务生态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92455" y="5654992"/>
            <a:ext cx="3994785" cy="274320"/>
            <a:chOff x="592455" y="5654992"/>
            <a:chExt cx="3994785" cy="274320"/>
          </a:xfrm>
        </p:grpSpPr>
        <p:sp>
          <p:nvSpPr>
            <p:cNvPr id="19" name="TextBox 19"/>
            <p:cNvSpPr txBox="1"/>
            <p:nvPr/>
          </p:nvSpPr>
          <p:spPr>
            <a:xfrm>
              <a:off x="592455" y="5654992"/>
              <a:ext cx="439597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行业分析为主体；公司与项目实践置于最后四页。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2" grpId="0"/>
      <p:bldP spid="18" grpId="0"/>
      <p:bldP spid="2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>
            <a:noAutofit/>
          </a:bodyPr>
          <a:p/>
        </p:txBody>
      </p:sp>
      <p:grpSp>
        <p:nvGrpSpPr>
          <p:cNvPr id="6" name="Group 6"/>
          <p:cNvGrpSpPr/>
          <p:nvPr/>
        </p:nvGrpSpPr>
        <p:grpSpPr>
          <a:xfrm>
            <a:off x="596265" y="228600"/>
            <a:ext cx="10998517" cy="6405562"/>
            <a:chOff x="596265" y="228600"/>
            <a:chExt cx="10998517" cy="6405562"/>
          </a:xfrm>
        </p:grpSpPr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515600" y="228600"/>
              <a:ext cx="1066800" cy="409575"/>
            </a:xfrm>
            <a:prstGeom prst="rect">
              <a:avLst/>
            </a:prstGeom>
          </p:spPr>
        </p:pic>
        <p:sp>
          <p:nvSpPr>
            <p:cNvPr id="4" name="TextBox 4"/>
            <p:cNvSpPr txBox="1"/>
            <p:nvPr/>
          </p:nvSpPr>
          <p:spPr>
            <a:xfrm>
              <a:off x="596265" y="6420802"/>
              <a:ext cx="169843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05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历橙 你的能源历程伙伴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998987" y="6428899"/>
              <a:ext cx="5957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/>
              <a:r>
                <a:rPr lang="zh-CN" sz="975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02 / 22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79120" y="353378"/>
            <a:ext cx="6445758" cy="1027747"/>
            <a:chOff x="579120" y="353378"/>
            <a:chExt cx="6445758" cy="1027747"/>
          </a:xfrm>
        </p:grpSpPr>
        <p:sp>
          <p:nvSpPr>
            <p:cNvPr id="7" name="TextBox 7"/>
            <p:cNvSpPr txBox="1"/>
            <p:nvPr/>
          </p:nvSpPr>
          <p:spPr>
            <a:xfrm>
              <a:off x="596265" y="353378"/>
              <a:ext cx="193979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050" dirty="0">
                  <a:solidFill>
                    <a:srgbClr val="087CC1"/>
                  </a:solidFill>
                  <a:latin typeface="Noto Sans CJK SC"/>
                  <a:ea typeface="Noto Sans CJK SC"/>
                  <a:cs typeface="Noto Sans CJK SC"/>
                </a:rPr>
                <a:t>行业判断 / 售后责任的累积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79120" y="893445"/>
              <a:ext cx="6657594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400" b="1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出海卖出的是设备，售后承担的是长期履约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09600" y="1790700"/>
            <a:ext cx="10972800" cy="3343275"/>
            <a:chOff x="609600" y="1790700"/>
            <a:chExt cx="10972800" cy="3343275"/>
          </a:xfrm>
        </p:grpSpPr>
        <p:sp>
          <p:nvSpPr>
            <p:cNvPr id="10" name="Rectangle 10"/>
            <p:cNvSpPr/>
            <p:nvPr/>
          </p:nvSpPr>
          <p:spPr>
            <a:xfrm>
              <a:off x="609600" y="1790700"/>
              <a:ext cx="4095750" cy="3343275"/>
            </a:xfrm>
            <a:prstGeom prst="rect">
              <a:avLst/>
            </a:prstGeom>
            <a:solidFill>
              <a:srgbClr val="F3F6F8"/>
            </a:solidFill>
            <a:ln>
              <a:noFill/>
            </a:ln>
          </p:spPr>
          <p:txBody>
            <a:bodyPr wrap="none">
              <a:noAutofit/>
            </a:bodyPr>
            <a:p/>
          </p:txBody>
        </p:sp>
        <p:sp>
          <p:nvSpPr>
            <p:cNvPr id="11" name="TextBox 11"/>
            <p:cNvSpPr txBox="1"/>
            <p:nvPr/>
          </p:nvSpPr>
          <p:spPr>
            <a:xfrm>
              <a:off x="868680" y="2078355"/>
              <a:ext cx="2262378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100" b="1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订单按项目交付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80110" y="2766060"/>
              <a:ext cx="153695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验收节点相对明确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80110" y="3251835"/>
              <a:ext cx="239039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安装、调试资源可阶段性集中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80110" y="3737610"/>
              <a:ext cx="256108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交付完成后，项目团队可能撤场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78205" y="4540568"/>
              <a:ext cx="305181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dirty="0">
                  <a:solidFill>
                    <a:srgbClr val="B94B00"/>
                  </a:solidFill>
                  <a:latin typeface="Noto Sans CJK SC"/>
                  <a:ea typeface="Noto Sans CJK SC"/>
                  <a:cs typeface="Noto Sans CJK SC"/>
                </a:rPr>
                <a:t>售后资源不会随着交付自动形成。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288280" y="2078355"/>
              <a:ext cx="3158490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100" b="1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责任按设备群持续累积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299710" y="2766060"/>
              <a:ext cx="305547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存量规模 × 事件频次 × 每单完整成本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299710" y="3251835"/>
              <a:ext cx="324383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运行条件变化、版本维护与质保长期存在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299710" y="3737610"/>
              <a:ext cx="358521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相似设备分散在不同国家，执行成本却不相同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299710" y="4223385"/>
              <a:ext cx="324383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低频严重故障，可能决定预算与客户关系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5314950" y="4686300"/>
              <a:ext cx="6267450" cy="9525"/>
            </a:xfrm>
            <a:custGeom>
              <a:avLst/>
              <a:gdLst/>
              <a:ahLst/>
              <a:cxnLst/>
              <a:rect l="l" t="t" r="r" b="b"/>
              <a:pathLst>
                <a:path w="6267450" h="9525">
                  <a:moveTo>
                    <a:pt x="0" y="0"/>
                  </a:moveTo>
                  <a:lnTo>
                    <a:pt x="6267450" y="0"/>
                  </a:lnTo>
                </a:path>
              </a:pathLst>
            </a:custGeom>
            <a:noFill/>
            <a:ln w="9525">
              <a:solidFill>
                <a:srgbClr val="D7E1E7"/>
              </a:solidFill>
            </a:ln>
          </p:spPr>
          <p:txBody>
            <a:bodyPr wrap="none">
              <a:noAutofit/>
            </a:bodyPr>
            <a:p/>
          </p:txBody>
        </p:sp>
      </p:grpSp>
      <p:grpSp>
        <p:nvGrpSpPr>
          <p:cNvPr id="25" name="Group 25"/>
          <p:cNvGrpSpPr/>
          <p:nvPr/>
        </p:nvGrpSpPr>
        <p:grpSpPr>
          <a:xfrm>
            <a:off x="584835" y="5494972"/>
            <a:ext cx="9332690" cy="712947"/>
            <a:chOff x="584835" y="5494972"/>
            <a:chExt cx="9332690" cy="712947"/>
          </a:xfrm>
        </p:grpSpPr>
        <p:sp>
          <p:nvSpPr>
            <p:cNvPr id="23" name="TextBox 23"/>
            <p:cNvSpPr txBox="1"/>
            <p:nvPr/>
          </p:nvSpPr>
          <p:spPr>
            <a:xfrm>
              <a:off x="584835" y="5494972"/>
              <a:ext cx="9601962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950" b="1" dirty="0">
                  <a:solidFill>
                    <a:srgbClr val="087CC1"/>
                  </a:solidFill>
                  <a:latin typeface="Noto Sans CJK SC"/>
                  <a:ea typeface="Noto Sans CJK SC"/>
                  <a:cs typeface="Noto Sans CJK SC"/>
                </a:rPr>
                <a:t>管理问题：售后预算与服务网络，是否跟得上存量责任，而不仅是新增订单？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97218" y="6009799"/>
              <a:ext cx="447065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975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经营机制分析，非装机统计；不引用截图中尚未核验的出海订单数字。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22" grpId="0"/>
      <p:bldP spid="2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>
            <a:noAutofit/>
          </a:bodyPr>
          <a:p/>
        </p:txBody>
      </p:sp>
      <p:grpSp>
        <p:nvGrpSpPr>
          <p:cNvPr id="6" name="Group 6"/>
          <p:cNvGrpSpPr/>
          <p:nvPr/>
        </p:nvGrpSpPr>
        <p:grpSpPr>
          <a:xfrm>
            <a:off x="596265" y="228600"/>
            <a:ext cx="10998517" cy="6405562"/>
            <a:chOff x="596265" y="228600"/>
            <a:chExt cx="10998517" cy="6405562"/>
          </a:xfrm>
        </p:grpSpPr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515600" y="228600"/>
              <a:ext cx="1066800" cy="409575"/>
            </a:xfrm>
            <a:prstGeom prst="rect">
              <a:avLst/>
            </a:prstGeom>
          </p:spPr>
        </p:pic>
        <p:sp>
          <p:nvSpPr>
            <p:cNvPr id="4" name="TextBox 4"/>
            <p:cNvSpPr txBox="1"/>
            <p:nvPr/>
          </p:nvSpPr>
          <p:spPr>
            <a:xfrm>
              <a:off x="596265" y="6420802"/>
              <a:ext cx="169843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05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历橙 你的能源历程伙伴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998987" y="6428899"/>
              <a:ext cx="5957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/>
              <a:r>
                <a:rPr lang="zh-CN" sz="975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03 / 22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79120" y="353378"/>
            <a:ext cx="7453884" cy="1027747"/>
            <a:chOff x="579120" y="353378"/>
            <a:chExt cx="7453884" cy="1027747"/>
          </a:xfrm>
        </p:grpSpPr>
        <p:sp>
          <p:nvSpPr>
            <p:cNvPr id="7" name="TextBox 7"/>
            <p:cNvSpPr txBox="1"/>
            <p:nvPr/>
          </p:nvSpPr>
          <p:spPr>
            <a:xfrm>
              <a:off x="596265" y="353378"/>
              <a:ext cx="253720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050" dirty="0">
                  <a:solidFill>
                    <a:srgbClr val="087CC1"/>
                  </a:solidFill>
                  <a:latin typeface="Noto Sans CJK SC"/>
                  <a:ea typeface="Noto Sans CJK SC"/>
                  <a:cs typeface="Noto Sans CJK SC"/>
                </a:rPr>
                <a:t>欧洲情境 / 覆盖范围不等于执行能力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79120" y="893445"/>
              <a:ext cx="7681722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400" b="1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欧洲不是一个售后市场，而是一组不同的交付条件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09600" y="1771650"/>
            <a:ext cx="10972800" cy="3400425"/>
            <a:chOff x="609600" y="1771650"/>
            <a:chExt cx="10972800" cy="3400425"/>
          </a:xfrm>
        </p:grpSpPr>
        <p:sp>
          <p:nvSpPr>
            <p:cNvPr id="10" name="Rectangle 10"/>
            <p:cNvSpPr/>
            <p:nvPr/>
          </p:nvSpPr>
          <p:spPr>
            <a:xfrm>
              <a:off x="609600" y="1771650"/>
              <a:ext cx="10972800" cy="495300"/>
            </a:xfrm>
            <a:prstGeom prst="rect">
              <a:avLst/>
            </a:prstGeom>
            <a:solidFill>
              <a:srgbClr val="142C3A"/>
            </a:solidFill>
            <a:ln>
              <a:noFill/>
            </a:ln>
          </p:spPr>
          <p:txBody>
            <a:bodyPr wrap="none">
              <a:noAutofit/>
            </a:bodyPr>
            <a:p/>
          </p:txBody>
        </p:sp>
        <p:sp>
          <p:nvSpPr>
            <p:cNvPr id="11" name="TextBox 11"/>
            <p:cNvSpPr txBox="1"/>
            <p:nvPr/>
          </p:nvSpPr>
          <p:spPr>
            <a:xfrm>
              <a:off x="822960" y="1975485"/>
              <a:ext cx="119557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Noto Sans CJK SC"/>
                  <a:ea typeface="Noto Sans CJK SC"/>
                  <a:cs typeface="Noto Sans CJK SC"/>
                </a:rPr>
                <a:t>差异来自哪里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899535" y="1975485"/>
              <a:ext cx="153695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Noto Sans CJK SC"/>
                  <a:ea typeface="Noto Sans CJK SC"/>
                  <a:cs typeface="Noto Sans CJK SC"/>
                </a:rPr>
                <a:t>对售后的实际影响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423910" y="1975485"/>
              <a:ext cx="153695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Noto Sans CJK SC"/>
                  <a:ea typeface="Noto Sans CJK SC"/>
                  <a:cs typeface="Noto Sans CJK SC"/>
                </a:rPr>
                <a:t>合同前要核验什么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22960" y="2613660"/>
              <a:ext cx="170764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现场规则与人员资格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899535" y="2613660"/>
              <a:ext cx="22197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可以派人，不代表获准操作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423910" y="2613660"/>
              <a:ext cx="22197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087CC1"/>
                  </a:solidFill>
                  <a:latin typeface="Noto Sans CJK SC"/>
                  <a:ea typeface="Noto Sans CJK SC"/>
                  <a:cs typeface="Noto Sans CJK SC"/>
                </a:rPr>
                <a:t>当地要求、授权与客户准入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609600" y="303847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7E1E7"/>
              </a:solidFill>
            </a:ln>
          </p:spPr>
          <p:txBody>
            <a:bodyPr wrap="none">
              <a:noAutofit/>
            </a:bodyPr>
            <a:p/>
          </p:txBody>
        </p:sp>
        <p:sp>
          <p:nvSpPr>
            <p:cNvPr id="18" name="TextBox 18"/>
            <p:cNvSpPr txBox="1"/>
            <p:nvPr/>
          </p:nvSpPr>
          <p:spPr>
            <a:xfrm>
              <a:off x="822960" y="3385185"/>
              <a:ext cx="170764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站点位置与运行窗口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899535" y="3385185"/>
              <a:ext cx="290245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路程之外，还可能需要等待停机许可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423910" y="3385185"/>
              <a:ext cx="239039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087CC1"/>
                  </a:solidFill>
                  <a:latin typeface="Noto Sans CJK SC"/>
                  <a:ea typeface="Noto Sans CJK SC"/>
                  <a:cs typeface="Noto Sans CJK SC"/>
                </a:rPr>
                <a:t>通行、值守、操作与交接窗口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609600" y="38100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7E1E7"/>
              </a:solidFill>
            </a:ln>
          </p:spPr>
          <p:txBody>
            <a:bodyPr wrap="none">
              <a:noAutofit/>
            </a:bodyPr>
            <a:p/>
          </p:txBody>
        </p:sp>
        <p:sp>
          <p:nvSpPr>
            <p:cNvPr id="22" name="TextBox 22"/>
            <p:cNvSpPr txBox="1"/>
            <p:nvPr/>
          </p:nvSpPr>
          <p:spPr>
            <a:xfrm>
              <a:off x="822960" y="4156710"/>
              <a:ext cx="136626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部件与物流条件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899535" y="4156710"/>
              <a:ext cx="273177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库存位置不等于正确部件已在现场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423910" y="4156710"/>
              <a:ext cx="187833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087CC1"/>
                  </a:solidFill>
                  <a:latin typeface="Noto Sans CJK SC"/>
                  <a:ea typeface="Noto Sans CJK SC"/>
                  <a:cs typeface="Noto Sans CJK SC"/>
                </a:rPr>
                <a:t>型号、运输与返修路径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609600" y="458152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7E1E7"/>
              </a:solidFill>
            </a:ln>
          </p:spPr>
          <p:txBody>
            <a:bodyPr wrap="none">
              <a:noAutofit/>
            </a:bodyPr>
            <a:p/>
          </p:txBody>
        </p:sp>
        <p:sp>
          <p:nvSpPr>
            <p:cNvPr id="26" name="TextBox 26"/>
            <p:cNvSpPr txBox="1"/>
            <p:nvPr/>
          </p:nvSpPr>
          <p:spPr>
            <a:xfrm>
              <a:off x="822960" y="4928235"/>
              <a:ext cx="136626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远程与数据权限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899535" y="4928235"/>
              <a:ext cx="307314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能看到告警，不代表能读取或更改配置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423910" y="4928235"/>
              <a:ext cx="239039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087CC1"/>
                  </a:solidFill>
                  <a:latin typeface="Noto Sans CJK SC"/>
                  <a:ea typeface="Noto Sans CJK SC"/>
                  <a:cs typeface="Noto Sans CJK SC"/>
                </a:rPr>
                <a:t>访问、变更、留痕与数据边界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85788" y="5588794"/>
            <a:ext cx="6899731" cy="647700"/>
            <a:chOff x="585788" y="5588794"/>
            <a:chExt cx="6899731" cy="647700"/>
          </a:xfrm>
        </p:grpSpPr>
        <p:sp>
          <p:nvSpPr>
            <p:cNvPr id="30" name="TextBox 30"/>
            <p:cNvSpPr txBox="1"/>
            <p:nvPr/>
          </p:nvSpPr>
          <p:spPr>
            <a:xfrm>
              <a:off x="585788" y="5588794"/>
              <a:ext cx="737235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875" b="1" dirty="0">
                  <a:solidFill>
                    <a:srgbClr val="B94B00"/>
                  </a:solidFill>
                  <a:latin typeface="Noto Sans CJK SC"/>
                  <a:ea typeface="Noto Sans CJK SC"/>
                  <a:cs typeface="Noto Sans CJK SC"/>
                </a:rPr>
                <a:t>“覆盖欧洲”的地图，需要拆成每条恢复路径的可执行条件。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97218" y="6038374"/>
              <a:ext cx="530275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975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行业分析；各国资格、税务、运输和数据义务按具体项目核验，不作统一法规结论。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29" grpId="0"/>
      <p:bldP spid="3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>
            <a:noAutofit/>
          </a:bodyPr>
          <a:p/>
        </p:txBody>
      </p:sp>
      <p:grpSp>
        <p:nvGrpSpPr>
          <p:cNvPr id="6" name="Group 6"/>
          <p:cNvGrpSpPr/>
          <p:nvPr/>
        </p:nvGrpSpPr>
        <p:grpSpPr>
          <a:xfrm>
            <a:off x="596265" y="228600"/>
            <a:ext cx="10998517" cy="6405562"/>
            <a:chOff x="596265" y="228600"/>
            <a:chExt cx="10998517" cy="6405562"/>
          </a:xfrm>
        </p:grpSpPr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515600" y="228600"/>
              <a:ext cx="1066800" cy="409575"/>
            </a:xfrm>
            <a:prstGeom prst="rect">
              <a:avLst/>
            </a:prstGeom>
          </p:spPr>
        </p:pic>
        <p:sp>
          <p:nvSpPr>
            <p:cNvPr id="4" name="TextBox 4"/>
            <p:cNvSpPr txBox="1"/>
            <p:nvPr/>
          </p:nvSpPr>
          <p:spPr>
            <a:xfrm>
              <a:off x="596265" y="6420802"/>
              <a:ext cx="169843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05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历橙 你的能源历程伙伴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998987" y="6428899"/>
              <a:ext cx="5957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/>
              <a:r>
                <a:rPr lang="zh-CN" sz="975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04 / 22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79120" y="353378"/>
            <a:ext cx="6534150" cy="1484947"/>
            <a:chOff x="579120" y="353378"/>
            <a:chExt cx="6534150" cy="1484947"/>
          </a:xfrm>
        </p:grpSpPr>
        <p:sp>
          <p:nvSpPr>
            <p:cNvPr id="7" name="TextBox 7"/>
            <p:cNvSpPr txBox="1"/>
            <p:nvPr/>
          </p:nvSpPr>
          <p:spPr>
            <a:xfrm>
              <a:off x="596265" y="353378"/>
              <a:ext cx="16410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050" dirty="0">
                  <a:solidFill>
                    <a:srgbClr val="087CC1"/>
                  </a:solidFill>
                  <a:latin typeface="Noto Sans CJK SC"/>
                  <a:ea typeface="Noto Sans CJK SC"/>
                  <a:cs typeface="Noto Sans CJK SC"/>
                </a:rPr>
                <a:t>总框架 / 六层服务生态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79120" y="893445"/>
              <a:ext cx="4950714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400" b="1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服务要落地，需要打通六层能力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86740" y="1472565"/>
              <a:ext cx="708431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8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长期服务价值，来自六层之间少一点等待、少一点信息断裂。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09600" y="2266950"/>
            <a:ext cx="1676400" cy="2895600"/>
            <a:chOff x="609600" y="2266950"/>
            <a:chExt cx="1676400" cy="2895600"/>
          </a:xfrm>
        </p:grpSpPr>
        <p:sp>
          <p:nvSpPr>
            <p:cNvPr id="11" name="Rectangle 11"/>
            <p:cNvSpPr/>
            <p:nvPr/>
          </p:nvSpPr>
          <p:spPr>
            <a:xfrm>
              <a:off x="609600" y="2266950"/>
              <a:ext cx="1676400" cy="2895600"/>
            </a:xfrm>
            <a:prstGeom prst="rect">
              <a:avLst/>
            </a:prstGeom>
            <a:solidFill>
              <a:srgbClr val="F3F6F8"/>
            </a:solidFill>
            <a:ln>
              <a:noFill/>
            </a:ln>
          </p:spPr>
          <p:txBody>
            <a:bodyPr wrap="none">
              <a:noAutofit/>
            </a:bodyPr>
            <a:p/>
          </p:txBody>
        </p:sp>
        <p:sp>
          <p:nvSpPr>
            <p:cNvPr id="12" name="TextBox 12"/>
            <p:cNvSpPr txBox="1"/>
            <p:nvPr/>
          </p:nvSpPr>
          <p:spPr>
            <a:xfrm>
              <a:off x="765810" y="2461260"/>
              <a:ext cx="597753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700" dirty="0">
                  <a:solidFill>
                    <a:srgbClr val="087CC1"/>
                  </a:solidFill>
                  <a:latin typeface="Noto Sans CJK SC"/>
                  <a:ea typeface="Noto Sans CJK SC"/>
                  <a:cs typeface="Noto Sans CJK SC"/>
                </a:rPr>
                <a:t>01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73430" y="3078480"/>
              <a:ext cx="768858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100" b="1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物流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82002" y="3684746"/>
              <a:ext cx="1184910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425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到得了现场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82002" y="4027646"/>
              <a:ext cx="1590294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425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交付与返修运输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84860" y="4632960"/>
              <a:ext cx="119557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B94B00"/>
                  </a:solidFill>
                  <a:latin typeface="Noto Sans CJK SC"/>
                  <a:ea typeface="Noto Sans CJK SC"/>
                  <a:cs typeface="Noto Sans CJK SC"/>
                </a:rPr>
                <a:t>管理跨境等待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2457450" y="2266950"/>
            <a:ext cx="1676400" cy="2895600"/>
            <a:chOff x="2457450" y="2266950"/>
            <a:chExt cx="1676400" cy="2895600"/>
          </a:xfrm>
        </p:grpSpPr>
        <p:sp>
          <p:nvSpPr>
            <p:cNvPr id="18" name="Rectangle 18"/>
            <p:cNvSpPr/>
            <p:nvPr/>
          </p:nvSpPr>
          <p:spPr>
            <a:xfrm>
              <a:off x="2457450" y="2266950"/>
              <a:ext cx="1676400" cy="2895600"/>
            </a:xfrm>
            <a:prstGeom prst="rect">
              <a:avLst/>
            </a:prstGeom>
            <a:solidFill>
              <a:srgbClr val="F3F6F8"/>
            </a:solidFill>
            <a:ln>
              <a:noFill/>
            </a:ln>
          </p:spPr>
          <p:txBody>
            <a:bodyPr wrap="none">
              <a:noAutofit/>
            </a:bodyPr>
            <a:p/>
          </p:txBody>
        </p:sp>
        <p:sp>
          <p:nvSpPr>
            <p:cNvPr id="19" name="TextBox 19"/>
            <p:cNvSpPr txBox="1"/>
            <p:nvPr/>
          </p:nvSpPr>
          <p:spPr>
            <a:xfrm>
              <a:off x="2613660" y="2461260"/>
              <a:ext cx="597753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700" dirty="0">
                  <a:solidFill>
                    <a:srgbClr val="087CC1"/>
                  </a:solidFill>
                  <a:latin typeface="Noto Sans CJK SC"/>
                  <a:ea typeface="Noto Sans CJK SC"/>
                  <a:cs typeface="Noto Sans CJK SC"/>
                </a:rPr>
                <a:t>02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621280" y="3078480"/>
              <a:ext cx="768858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100" b="1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仓储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629852" y="3684746"/>
              <a:ext cx="1590294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425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拿得到正确部件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629852" y="4027646"/>
              <a:ext cx="1590294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425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库存与版本匹配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632710" y="4632960"/>
              <a:ext cx="119557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B94B00"/>
                  </a:solidFill>
                  <a:latin typeface="Noto Sans CJK SC"/>
                  <a:ea typeface="Noto Sans CJK SC"/>
                  <a:cs typeface="Noto Sans CJK SC"/>
                </a:rPr>
                <a:t>平衡持有成本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4305300" y="2266950"/>
            <a:ext cx="1676400" cy="2895600"/>
            <a:chOff x="4305300" y="2266950"/>
            <a:chExt cx="1676400" cy="2895600"/>
          </a:xfrm>
        </p:grpSpPr>
        <p:sp>
          <p:nvSpPr>
            <p:cNvPr id="25" name="Rectangle 25"/>
            <p:cNvSpPr/>
            <p:nvPr/>
          </p:nvSpPr>
          <p:spPr>
            <a:xfrm>
              <a:off x="4305300" y="2266950"/>
              <a:ext cx="1676400" cy="2895600"/>
            </a:xfrm>
            <a:prstGeom prst="rect">
              <a:avLst/>
            </a:prstGeom>
            <a:solidFill>
              <a:srgbClr val="F3F6F8"/>
            </a:solidFill>
            <a:ln>
              <a:noFill/>
            </a:ln>
          </p:spPr>
          <p:txBody>
            <a:bodyPr wrap="none">
              <a:noAutofit/>
            </a:bodyPr>
            <a:p/>
          </p:txBody>
        </p:sp>
        <p:sp>
          <p:nvSpPr>
            <p:cNvPr id="26" name="TextBox 26"/>
            <p:cNvSpPr txBox="1"/>
            <p:nvPr/>
          </p:nvSpPr>
          <p:spPr>
            <a:xfrm>
              <a:off x="4461510" y="2461260"/>
              <a:ext cx="597753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700" dirty="0">
                  <a:solidFill>
                    <a:srgbClr val="087CC1"/>
                  </a:solidFill>
                  <a:latin typeface="Noto Sans CJK SC"/>
                  <a:ea typeface="Noto Sans CJK SC"/>
                  <a:cs typeface="Noto Sans CJK SC"/>
                </a:rPr>
                <a:t>03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469130" y="3078480"/>
              <a:ext cx="768858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100" b="1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诊断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477702" y="3684746"/>
              <a:ext cx="1590294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425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判断能指导行动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477702" y="4027646"/>
              <a:ext cx="1387602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425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缩小故障范围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480560" y="4632960"/>
              <a:ext cx="119557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B94B00"/>
                  </a:solidFill>
                  <a:latin typeface="Noto Sans CJK SC"/>
                  <a:ea typeface="Noto Sans CJK SC"/>
                  <a:cs typeface="Noto Sans CJK SC"/>
                </a:rPr>
                <a:t>减少无效派工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153150" y="2266950"/>
            <a:ext cx="1728787" cy="2895600"/>
            <a:chOff x="6153150" y="2266950"/>
            <a:chExt cx="1728787" cy="2895600"/>
          </a:xfrm>
        </p:grpSpPr>
        <p:sp>
          <p:nvSpPr>
            <p:cNvPr id="32" name="Rectangle 32"/>
            <p:cNvSpPr/>
            <p:nvPr/>
          </p:nvSpPr>
          <p:spPr>
            <a:xfrm>
              <a:off x="6153150" y="2266950"/>
              <a:ext cx="1676400" cy="2895600"/>
            </a:xfrm>
            <a:prstGeom prst="rect">
              <a:avLst/>
            </a:prstGeom>
            <a:solidFill>
              <a:srgbClr val="F3F6F8"/>
            </a:solidFill>
            <a:ln>
              <a:noFill/>
            </a:ln>
          </p:spPr>
          <p:txBody>
            <a:bodyPr wrap="none">
              <a:noAutofit/>
            </a:bodyPr>
            <a:p/>
          </p:txBody>
        </p:sp>
        <p:sp>
          <p:nvSpPr>
            <p:cNvPr id="33" name="TextBox 33"/>
            <p:cNvSpPr txBox="1"/>
            <p:nvPr/>
          </p:nvSpPr>
          <p:spPr>
            <a:xfrm>
              <a:off x="6309360" y="2461260"/>
              <a:ext cx="597753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700" dirty="0">
                  <a:solidFill>
                    <a:srgbClr val="087CC1"/>
                  </a:solidFill>
                  <a:latin typeface="Noto Sans CJK SC"/>
                  <a:ea typeface="Noto Sans CJK SC"/>
                  <a:cs typeface="Noto Sans CJK SC"/>
                </a:rPr>
                <a:t>04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316980" y="3078480"/>
              <a:ext cx="768858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100" b="1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维修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325552" y="3684746"/>
              <a:ext cx="1590294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425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恢复可以被验证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325552" y="4027646"/>
              <a:ext cx="1792986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425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修复、测试与追溯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328410" y="4632960"/>
              <a:ext cx="119557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B94B00"/>
                  </a:solidFill>
                  <a:latin typeface="Noto Sans CJK SC"/>
                  <a:ea typeface="Noto Sans CJK SC"/>
                  <a:cs typeface="Noto Sans CJK SC"/>
                </a:rPr>
                <a:t>控制复发风险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8001000" y="2266950"/>
            <a:ext cx="1728787" cy="2895600"/>
            <a:chOff x="8001000" y="2266950"/>
            <a:chExt cx="1728787" cy="2895600"/>
          </a:xfrm>
        </p:grpSpPr>
        <p:sp>
          <p:nvSpPr>
            <p:cNvPr id="39" name="Rectangle 39"/>
            <p:cNvSpPr/>
            <p:nvPr/>
          </p:nvSpPr>
          <p:spPr>
            <a:xfrm>
              <a:off x="8001000" y="2266950"/>
              <a:ext cx="1676400" cy="2895600"/>
            </a:xfrm>
            <a:prstGeom prst="rect">
              <a:avLst/>
            </a:prstGeom>
            <a:solidFill>
              <a:srgbClr val="F3F6F8"/>
            </a:solidFill>
            <a:ln>
              <a:noFill/>
            </a:ln>
          </p:spPr>
          <p:txBody>
            <a:bodyPr wrap="none">
              <a:noAutofit/>
            </a:bodyPr>
            <a:p/>
          </p:txBody>
        </p:sp>
        <p:sp>
          <p:nvSpPr>
            <p:cNvPr id="40" name="TextBox 40"/>
            <p:cNvSpPr txBox="1"/>
            <p:nvPr/>
          </p:nvSpPr>
          <p:spPr>
            <a:xfrm>
              <a:off x="8157210" y="2461260"/>
              <a:ext cx="597753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700" dirty="0">
                  <a:solidFill>
                    <a:srgbClr val="087CC1"/>
                  </a:solidFill>
                  <a:latin typeface="Noto Sans CJK SC"/>
                  <a:ea typeface="Noto Sans CJK SC"/>
                  <a:cs typeface="Noto Sans CJK SC"/>
                </a:rPr>
                <a:t>05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164830" y="3078480"/>
              <a:ext cx="768858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100" b="1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运营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173402" y="3684746"/>
              <a:ext cx="1792986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425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运行结果回到决策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173402" y="4027646"/>
              <a:ext cx="1590294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425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维护与调度约束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176260" y="4632960"/>
              <a:ext cx="119557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B94B00"/>
                  </a:solidFill>
                  <a:latin typeface="Noto Sans CJK SC"/>
                  <a:ea typeface="Noto Sans CJK SC"/>
                  <a:cs typeface="Noto Sans CJK SC"/>
                </a:rPr>
                <a:t>关注可用能力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9848850" y="2266950"/>
            <a:ext cx="1733550" cy="2895600"/>
            <a:chOff x="9848850" y="2266950"/>
            <a:chExt cx="1733550" cy="2895600"/>
          </a:xfrm>
        </p:grpSpPr>
        <p:sp>
          <p:nvSpPr>
            <p:cNvPr id="46" name="Rectangle 46"/>
            <p:cNvSpPr/>
            <p:nvPr/>
          </p:nvSpPr>
          <p:spPr>
            <a:xfrm>
              <a:off x="9848850" y="2266950"/>
              <a:ext cx="1733550" cy="2895600"/>
            </a:xfrm>
            <a:prstGeom prst="rect">
              <a:avLst/>
            </a:prstGeom>
            <a:solidFill>
              <a:srgbClr val="EAF3F9"/>
            </a:solidFill>
            <a:ln>
              <a:noFill/>
            </a:ln>
          </p:spPr>
          <p:txBody>
            <a:bodyPr wrap="none">
              <a:noAutofit/>
            </a:bodyPr>
            <a:p/>
          </p:txBody>
        </p:sp>
        <p:sp>
          <p:nvSpPr>
            <p:cNvPr id="47" name="TextBox 47"/>
            <p:cNvSpPr txBox="1"/>
            <p:nvPr/>
          </p:nvSpPr>
          <p:spPr>
            <a:xfrm>
              <a:off x="10005060" y="2461260"/>
              <a:ext cx="597753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700" dirty="0">
                  <a:solidFill>
                    <a:srgbClr val="087CC1"/>
                  </a:solidFill>
                  <a:latin typeface="Noto Sans CJK SC"/>
                  <a:ea typeface="Noto Sans CJK SC"/>
                  <a:cs typeface="Noto Sans CJK SC"/>
                </a:rPr>
                <a:t>06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013632" y="3086576"/>
              <a:ext cx="1323594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025" b="1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资产流通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021252" y="3684746"/>
              <a:ext cx="1590294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425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剩余价值有证据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021252" y="4027646"/>
              <a:ext cx="1792986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425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再利用与退役去向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024110" y="4632960"/>
              <a:ext cx="119557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B94B00"/>
                  </a:solidFill>
                  <a:latin typeface="Noto Sans CJK SC"/>
                  <a:ea typeface="Noto Sans CJK SC"/>
                  <a:cs typeface="Noto Sans CJK SC"/>
                </a:rPr>
                <a:t>避免残值高估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585788" y="5503069"/>
            <a:ext cx="7661077" cy="704850"/>
            <a:chOff x="585788" y="5503069"/>
            <a:chExt cx="7661077" cy="704850"/>
          </a:xfrm>
        </p:grpSpPr>
        <p:sp>
          <p:nvSpPr>
            <p:cNvPr id="53" name="TextBox 53"/>
            <p:cNvSpPr txBox="1"/>
            <p:nvPr/>
          </p:nvSpPr>
          <p:spPr>
            <a:xfrm>
              <a:off x="585788" y="5503069"/>
              <a:ext cx="790575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875" b="1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六层不等于全部自建；关键是责任清晰、接口可用、结果可追溯。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97218" y="6009799"/>
              <a:ext cx="530275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975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保留用户提供的六层框架，以客户价值重述；非某一家公司的全部已落地业务声明。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35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17" grpId="0"/>
      <p:bldP spid="24" grpId="0"/>
      <p:bldP spid="31" grpId="0"/>
      <p:bldP spid="38" grpId="0"/>
      <p:bldP spid="45" grpId="0"/>
      <p:bldP spid="52" grpId="0"/>
      <p:bldP spid="5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>
            <a:noAutofit/>
          </a:bodyPr>
          <a:p/>
        </p:txBody>
      </p:sp>
      <p:grpSp>
        <p:nvGrpSpPr>
          <p:cNvPr id="6" name="Group 6"/>
          <p:cNvGrpSpPr/>
          <p:nvPr/>
        </p:nvGrpSpPr>
        <p:grpSpPr>
          <a:xfrm>
            <a:off x="596265" y="228600"/>
            <a:ext cx="10998517" cy="6405562"/>
            <a:chOff x="596265" y="228600"/>
            <a:chExt cx="10998517" cy="6405562"/>
          </a:xfrm>
        </p:grpSpPr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515600" y="228600"/>
              <a:ext cx="1066800" cy="409575"/>
            </a:xfrm>
            <a:prstGeom prst="rect">
              <a:avLst/>
            </a:prstGeom>
          </p:spPr>
        </p:pic>
        <p:sp>
          <p:nvSpPr>
            <p:cNvPr id="4" name="TextBox 4"/>
            <p:cNvSpPr txBox="1"/>
            <p:nvPr/>
          </p:nvSpPr>
          <p:spPr>
            <a:xfrm>
              <a:off x="596265" y="6420802"/>
              <a:ext cx="169843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05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历橙 你的能源历程伙伴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998987" y="6428899"/>
              <a:ext cx="5957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/>
              <a:r>
                <a:rPr lang="zh-CN" sz="975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05 / 22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79120" y="353378"/>
            <a:ext cx="7336269" cy="1027747"/>
            <a:chOff x="579120" y="353378"/>
            <a:chExt cx="7336269" cy="1027747"/>
          </a:xfrm>
        </p:grpSpPr>
        <p:sp>
          <p:nvSpPr>
            <p:cNvPr id="7" name="TextBox 7"/>
            <p:cNvSpPr txBox="1"/>
            <p:nvPr/>
          </p:nvSpPr>
          <p:spPr>
            <a:xfrm>
              <a:off x="596265" y="353378"/>
              <a:ext cx="298526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050" dirty="0">
                  <a:solidFill>
                    <a:srgbClr val="087CC1"/>
                  </a:solidFill>
                  <a:latin typeface="Noto Sans CJK SC"/>
                  <a:ea typeface="Noto Sans CJK SC"/>
                  <a:cs typeface="Noto Sans CJK SC"/>
                </a:rPr>
                <a:t>经营账 / 一个窗口的损失，而不是容量估值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79120" y="893445"/>
              <a:ext cx="8023098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400" b="1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停机损失不是“容量×电价”，而是错失的运行机会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09600" y="1771650"/>
            <a:ext cx="10972800" cy="2247900"/>
            <a:chOff x="609600" y="1771650"/>
            <a:chExt cx="10972800" cy="2247900"/>
          </a:xfrm>
        </p:grpSpPr>
        <p:sp>
          <p:nvSpPr>
            <p:cNvPr id="10" name="Rectangle 10"/>
            <p:cNvSpPr/>
            <p:nvPr/>
          </p:nvSpPr>
          <p:spPr>
            <a:xfrm>
              <a:off x="609600" y="1771650"/>
              <a:ext cx="10972800" cy="2247900"/>
            </a:xfrm>
            <a:prstGeom prst="rect">
              <a:avLst/>
            </a:prstGeom>
            <a:solidFill>
              <a:srgbClr val="EAF3F9"/>
            </a:solidFill>
            <a:ln>
              <a:noFill/>
            </a:ln>
          </p:spPr>
          <p:txBody>
            <a:bodyPr wrap="none">
              <a:noAutofit/>
            </a:bodyPr>
            <a:p/>
          </p:txBody>
        </p:sp>
        <p:sp>
          <p:nvSpPr>
            <p:cNvPr id="11" name="TextBox 11"/>
            <p:cNvSpPr txBox="1"/>
            <p:nvPr/>
          </p:nvSpPr>
          <p:spPr>
            <a:xfrm>
              <a:off x="821055" y="1997392"/>
              <a:ext cx="594167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dirty="0">
                  <a:solidFill>
                    <a:srgbClr val="087CC1"/>
                  </a:solidFill>
                  <a:latin typeface="Noto Sans CJK SC"/>
                  <a:ea typeface="Noto Sans CJK SC"/>
                  <a:cs typeface="Noto Sans CJK SC"/>
                </a:rPr>
                <a:t>假设示例｜50 MW / 100 MWh项目，某个计划运行窗口出现部分降额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02005" y="2654618"/>
              <a:ext cx="517070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850" b="1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10 MW × 2 h × 80 €/MWh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19150" y="3381375"/>
              <a:ext cx="441648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受限功率 × 受影响窗口 × 假设单位边际贡献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530912" y="2531745"/>
              <a:ext cx="1988177" cy="792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CN" sz="3900" b="1" dirty="0">
                  <a:solidFill>
                    <a:srgbClr val="B94B00"/>
                  </a:solidFill>
                  <a:latin typeface="Noto Sans CJK SC"/>
                  <a:ea typeface="Noto Sans CJK SC"/>
                  <a:cs typeface="Noto Sans CJK SC"/>
                </a:rPr>
                <a:t>€1,600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372475" y="3352800"/>
              <a:ext cx="23050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CN" sz="1500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该窗口的机会贡献损失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85788" y="4341019"/>
            <a:ext cx="6919912" cy="1716881"/>
            <a:chOff x="585788" y="4341019"/>
            <a:chExt cx="6919912" cy="1716881"/>
          </a:xfrm>
        </p:grpSpPr>
        <p:sp>
          <p:nvSpPr>
            <p:cNvPr id="17" name="TextBox 17"/>
            <p:cNvSpPr txBox="1"/>
            <p:nvPr/>
          </p:nvSpPr>
          <p:spPr>
            <a:xfrm>
              <a:off x="585788" y="4341019"/>
              <a:ext cx="497205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875" b="1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同样停机两小时，商业影响可能完全不同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94360" y="4852035"/>
              <a:ext cx="580415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是否错过高价值调度窗口？能否部分运行？合同是否另有性能或履约责任？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94360" y="5280660"/>
              <a:ext cx="546277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售后优先级，应结合受影响能力与窗口价值，而不只按告警数量排序。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94360" y="5814060"/>
              <a:ext cx="751103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边界：仅为假设演算；未计罚则、退化、税费和恢复成本，不预测收益，也不代表欧洲平均水平。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6" grpId="0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>
            <a:noAutofit/>
          </a:bodyPr>
          <a:p/>
        </p:txBody>
      </p:sp>
      <p:grpSp>
        <p:nvGrpSpPr>
          <p:cNvPr id="6" name="Group 6"/>
          <p:cNvGrpSpPr/>
          <p:nvPr/>
        </p:nvGrpSpPr>
        <p:grpSpPr>
          <a:xfrm>
            <a:off x="596265" y="228600"/>
            <a:ext cx="10998517" cy="6405562"/>
            <a:chOff x="596265" y="228600"/>
            <a:chExt cx="10998517" cy="6405562"/>
          </a:xfrm>
        </p:grpSpPr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515600" y="228600"/>
              <a:ext cx="1066800" cy="409575"/>
            </a:xfrm>
            <a:prstGeom prst="rect">
              <a:avLst/>
            </a:prstGeom>
          </p:spPr>
        </p:pic>
        <p:sp>
          <p:nvSpPr>
            <p:cNvPr id="4" name="TextBox 4"/>
            <p:cNvSpPr txBox="1"/>
            <p:nvPr/>
          </p:nvSpPr>
          <p:spPr>
            <a:xfrm>
              <a:off x="596265" y="6420802"/>
              <a:ext cx="169843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05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历橙 你的能源历程伙伴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998987" y="6428899"/>
              <a:ext cx="5957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/>
              <a:r>
                <a:rPr lang="zh-CN" sz="975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06 / 22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79120" y="353378"/>
            <a:ext cx="6445758" cy="1027747"/>
            <a:chOff x="579120" y="353378"/>
            <a:chExt cx="6445758" cy="1027747"/>
          </a:xfrm>
        </p:grpSpPr>
        <p:sp>
          <p:nvSpPr>
            <p:cNvPr id="7" name="TextBox 7"/>
            <p:cNvSpPr txBox="1"/>
            <p:nvPr/>
          </p:nvSpPr>
          <p:spPr>
            <a:xfrm>
              <a:off x="596265" y="353378"/>
              <a:ext cx="253720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050" dirty="0">
                  <a:solidFill>
                    <a:srgbClr val="087CC1"/>
                  </a:solidFill>
                  <a:latin typeface="Noto Sans CJK SC"/>
                  <a:ea typeface="Noto Sans CJK SC"/>
                  <a:cs typeface="Noto Sans CJK SC"/>
                </a:rPr>
                <a:t>运营层 / 部分降额同样消耗可用能力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79120" y="893445"/>
              <a:ext cx="6657594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400" b="1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设备没有全停机，不代表可用能力没有损失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92455" y="1854518"/>
            <a:ext cx="10257508" cy="1762601"/>
            <a:chOff x="592455" y="1854518"/>
            <a:chExt cx="10257508" cy="1762601"/>
          </a:xfrm>
        </p:grpSpPr>
        <p:sp>
          <p:nvSpPr>
            <p:cNvPr id="10" name="TextBox 10"/>
            <p:cNvSpPr txBox="1"/>
            <p:nvPr/>
          </p:nvSpPr>
          <p:spPr>
            <a:xfrm>
              <a:off x="592455" y="1854518"/>
              <a:ext cx="626100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假设示例｜50 MW系统的一天：20小时满功率可用，4小时仅40 MW可用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524000" y="2476500"/>
              <a:ext cx="7620000" cy="666750"/>
            </a:xfrm>
            <a:prstGeom prst="rect">
              <a:avLst/>
            </a:prstGeom>
            <a:solidFill>
              <a:srgbClr val="087CC1"/>
            </a:solidFill>
            <a:ln>
              <a:noFill/>
            </a:ln>
          </p:spPr>
          <p:txBody>
            <a:bodyPr wrap="none">
              <a:noAutofit/>
            </a:bodyPr>
            <a:p/>
          </p:txBody>
        </p:sp>
        <p:sp>
          <p:nvSpPr>
            <p:cNvPr id="12" name="Rectangle 12"/>
            <p:cNvSpPr/>
            <p:nvPr/>
          </p:nvSpPr>
          <p:spPr>
            <a:xfrm>
              <a:off x="9144000" y="2476500"/>
              <a:ext cx="1524000" cy="666750"/>
            </a:xfrm>
            <a:prstGeom prst="rect">
              <a:avLst/>
            </a:prstGeom>
            <a:solidFill>
              <a:srgbClr val="F58A24"/>
            </a:solidFill>
            <a:ln>
              <a:noFill/>
            </a:ln>
          </p:spPr>
          <p:txBody>
            <a:bodyPr wrap="none">
              <a:noAutofit/>
            </a:bodyPr>
            <a:p/>
          </p:txBody>
        </p:sp>
        <p:sp>
          <p:nvSpPr>
            <p:cNvPr id="13" name="TextBox 13"/>
            <p:cNvSpPr txBox="1"/>
            <p:nvPr/>
          </p:nvSpPr>
          <p:spPr>
            <a:xfrm>
              <a:off x="4358893" y="2694622"/>
              <a:ext cx="1950214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CN" sz="1950" dirty="0">
                  <a:solidFill>
                    <a:srgbClr val="FFFFFF"/>
                  </a:solidFill>
                  <a:latin typeface="Noto Sans CJK SC"/>
                  <a:ea typeface="Noto Sans CJK SC"/>
                  <a:cs typeface="Noto Sans CJK SC"/>
                </a:rPr>
                <a:t>20 h · 50 MW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132793" y="2727008"/>
              <a:ext cx="154641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CN" sz="1650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4 h · 40 MW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312593" y="3358039"/>
              <a:ext cx="42281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CN" sz="1275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0 h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882274" y="3358039"/>
              <a:ext cx="52345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CN" sz="1275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20 h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406274" y="3358039"/>
              <a:ext cx="52345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CN" sz="1275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24 h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61975" y="3798094"/>
            <a:ext cx="10212229" cy="1612106"/>
            <a:chOff x="561975" y="3798094"/>
            <a:chExt cx="10212229" cy="1612106"/>
          </a:xfrm>
        </p:grpSpPr>
        <p:sp>
          <p:nvSpPr>
            <p:cNvPr id="19" name="TextBox 19"/>
            <p:cNvSpPr txBox="1"/>
            <p:nvPr/>
          </p:nvSpPr>
          <p:spPr>
            <a:xfrm>
              <a:off x="585788" y="3798094"/>
              <a:ext cx="230505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875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只记录是否全停机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61975" y="4348162"/>
              <a:ext cx="1629216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750" b="1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100%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92455" y="5045392"/>
              <a:ext cx="285978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“一直能运行”，掩盖部分降额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4152900" y="3943350"/>
              <a:ext cx="171450" cy="1466850"/>
            </a:xfrm>
            <a:custGeom>
              <a:avLst/>
              <a:gdLst/>
              <a:ahLst/>
              <a:cxnLst/>
              <a:rect l="l" t="t" r="r" b="b"/>
              <a:pathLst>
                <a:path w="9525" h="1466850">
                  <a:moveTo>
                    <a:pt x="0" y="0"/>
                  </a:moveTo>
                  <a:lnTo>
                    <a:pt x="0" y="1466850"/>
                  </a:lnTo>
                </a:path>
              </a:pathLst>
            </a:custGeom>
            <a:noFill/>
            <a:ln w="9525">
              <a:solidFill>
                <a:srgbClr val="D7E1E7"/>
              </a:solidFill>
            </a:ln>
          </p:spPr>
          <p:txBody>
            <a:bodyPr wrap="none">
              <a:noAutofit/>
            </a:bodyPr>
            <a:p>
              <a:pPr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643438" y="3798094"/>
              <a:ext cx="257175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875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功率加权的可用能力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619625" y="4348162"/>
              <a:ext cx="1802571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750" b="1" dirty="0">
                  <a:solidFill>
                    <a:srgbClr val="B94B00"/>
                  </a:solidFill>
                  <a:latin typeface="Noto Sans CJK SC"/>
                  <a:ea typeface="Noto Sans CJK SC"/>
                  <a:cs typeface="Noto Sans CJK SC"/>
                </a:rPr>
                <a:t>96.7%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648200" y="5029200"/>
              <a:ext cx="292579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(50×20 + 40×4) ÷ (50×24)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903018" y="3814286"/>
              <a:ext cx="1643634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725" dirty="0">
                  <a:solidFill>
                    <a:srgbClr val="087CC1"/>
                  </a:solidFill>
                  <a:latin typeface="Noto Sans CJK SC"/>
                  <a:ea typeface="Noto Sans CJK SC"/>
                  <a:cs typeface="Noto Sans CJK SC"/>
                </a:rPr>
                <a:t>必须同时约定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905875" y="4438650"/>
              <a:ext cx="205756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时间窗口 / 降额定义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905875" y="4867275"/>
              <a:ext cx="184420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排除项 / 验收依据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93408" y="5786914"/>
            <a:ext cx="6153150" cy="259080"/>
            <a:chOff x="593408" y="5786914"/>
            <a:chExt cx="6153150" cy="259080"/>
          </a:xfrm>
        </p:grpSpPr>
        <p:sp>
          <p:nvSpPr>
            <p:cNvPr id="30" name="TextBox 30"/>
            <p:cNvSpPr txBox="1"/>
            <p:nvPr/>
          </p:nvSpPr>
          <p:spPr>
            <a:xfrm>
              <a:off x="593408" y="5786914"/>
              <a:ext cx="670026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75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图表为假设演示，非行业实测；技术可用性、能量能力与收益表现不是同一指标。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8" grpId="0"/>
      <p:bldP spid="29" grpId="0"/>
      <p:bldP spid="3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>
            <a:noAutofit/>
          </a:bodyPr>
          <a:p/>
        </p:txBody>
      </p:sp>
      <p:grpSp>
        <p:nvGrpSpPr>
          <p:cNvPr id="6" name="Group 6"/>
          <p:cNvGrpSpPr/>
          <p:nvPr/>
        </p:nvGrpSpPr>
        <p:grpSpPr>
          <a:xfrm>
            <a:off x="596265" y="228600"/>
            <a:ext cx="10998517" cy="6405562"/>
            <a:chOff x="596265" y="228600"/>
            <a:chExt cx="10998517" cy="6405562"/>
          </a:xfrm>
        </p:grpSpPr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515600" y="228600"/>
              <a:ext cx="1066800" cy="409575"/>
            </a:xfrm>
            <a:prstGeom prst="rect">
              <a:avLst/>
            </a:prstGeom>
          </p:spPr>
        </p:pic>
        <p:sp>
          <p:nvSpPr>
            <p:cNvPr id="4" name="TextBox 4"/>
            <p:cNvSpPr txBox="1"/>
            <p:nvPr/>
          </p:nvSpPr>
          <p:spPr>
            <a:xfrm>
              <a:off x="596265" y="6420802"/>
              <a:ext cx="169843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05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历橙 你的能源历程伙伴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998987" y="6428899"/>
              <a:ext cx="5957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/>
              <a:r>
                <a:rPr lang="zh-CN" sz="975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07 / 22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79120" y="353378"/>
            <a:ext cx="5773674" cy="1027747"/>
            <a:chOff x="579120" y="353378"/>
            <a:chExt cx="5773674" cy="1027747"/>
          </a:xfrm>
        </p:grpSpPr>
        <p:sp>
          <p:nvSpPr>
            <p:cNvPr id="7" name="TextBox 7"/>
            <p:cNvSpPr txBox="1"/>
            <p:nvPr/>
          </p:nvSpPr>
          <p:spPr>
            <a:xfrm>
              <a:off x="596265" y="353378"/>
              <a:ext cx="23723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050" dirty="0">
                  <a:solidFill>
                    <a:srgbClr val="087CC1"/>
                  </a:solidFill>
                  <a:latin typeface="Noto Sans CJK SC"/>
                  <a:ea typeface="Noto Sans CJK SC"/>
                  <a:cs typeface="Noto Sans CJK SC"/>
                </a:rPr>
                <a:t>物流 × 诊断 × 维修 / 总恢复周期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79120" y="893445"/>
              <a:ext cx="5974842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400" b="1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修复速度的瓶颈，往往在技术作业之外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83882" y="1854518"/>
            <a:ext cx="10998518" cy="1707832"/>
            <a:chOff x="583882" y="1854518"/>
            <a:chExt cx="10998518" cy="1707832"/>
          </a:xfrm>
        </p:grpSpPr>
        <p:sp>
          <p:nvSpPr>
            <p:cNvPr id="10" name="TextBox 10"/>
            <p:cNvSpPr txBox="1"/>
            <p:nvPr/>
          </p:nvSpPr>
          <p:spPr>
            <a:xfrm>
              <a:off x="592455" y="1854518"/>
              <a:ext cx="324383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概念拆解，等宽不代表实际耗时比例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09600" y="2381250"/>
              <a:ext cx="2552700" cy="76200"/>
            </a:xfrm>
            <a:prstGeom prst="rect">
              <a:avLst/>
            </a:prstGeom>
            <a:solidFill>
              <a:srgbClr val="627582"/>
            </a:solidFill>
            <a:ln>
              <a:noFill/>
            </a:ln>
          </p:spPr>
          <p:txBody>
            <a:bodyPr wrap="none">
              <a:noAutofit/>
            </a:bodyPr>
            <a:p/>
          </p:txBody>
        </p:sp>
        <p:sp>
          <p:nvSpPr>
            <p:cNvPr id="12" name="Rectangle 12"/>
            <p:cNvSpPr/>
            <p:nvPr/>
          </p:nvSpPr>
          <p:spPr>
            <a:xfrm>
              <a:off x="3409950" y="2381250"/>
              <a:ext cx="2552700" cy="76200"/>
            </a:xfrm>
            <a:prstGeom prst="rect">
              <a:avLst/>
            </a:prstGeom>
            <a:solidFill>
              <a:srgbClr val="087CC1"/>
            </a:solidFill>
            <a:ln>
              <a:noFill/>
            </a:ln>
          </p:spPr>
          <p:txBody>
            <a:bodyPr wrap="none">
              <a:noAutofit/>
            </a:bodyPr>
            <a:p/>
          </p:txBody>
        </p:sp>
        <p:sp>
          <p:nvSpPr>
            <p:cNvPr id="13" name="Rectangle 13"/>
            <p:cNvSpPr/>
            <p:nvPr/>
          </p:nvSpPr>
          <p:spPr>
            <a:xfrm>
              <a:off x="6210300" y="2381250"/>
              <a:ext cx="2552700" cy="76200"/>
            </a:xfrm>
            <a:prstGeom prst="rect">
              <a:avLst/>
            </a:prstGeom>
            <a:solidFill>
              <a:srgbClr val="F58A24"/>
            </a:solidFill>
            <a:ln>
              <a:noFill/>
            </a:ln>
          </p:spPr>
          <p:txBody>
            <a:bodyPr wrap="none">
              <a:noAutofit/>
            </a:bodyPr>
            <a:p/>
          </p:txBody>
        </p:sp>
        <p:sp>
          <p:nvSpPr>
            <p:cNvPr id="14" name="Rectangle 14"/>
            <p:cNvSpPr/>
            <p:nvPr/>
          </p:nvSpPr>
          <p:spPr>
            <a:xfrm>
              <a:off x="9010650" y="2381250"/>
              <a:ext cx="2571750" cy="76200"/>
            </a:xfrm>
            <a:prstGeom prst="rect">
              <a:avLst/>
            </a:prstGeom>
            <a:solidFill>
              <a:srgbClr val="627582"/>
            </a:solidFill>
            <a:ln>
              <a:noFill/>
            </a:ln>
          </p:spPr>
          <p:txBody>
            <a:bodyPr wrap="none">
              <a:noAutofit/>
            </a:bodyPr>
            <a:p/>
          </p:txBody>
        </p:sp>
        <p:sp>
          <p:nvSpPr>
            <p:cNvPr id="15" name="TextBox 15"/>
            <p:cNvSpPr txBox="1"/>
            <p:nvPr/>
          </p:nvSpPr>
          <p:spPr>
            <a:xfrm>
              <a:off x="583882" y="2743676"/>
              <a:ext cx="1611630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025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确认与授权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384232" y="2743676"/>
              <a:ext cx="1611630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025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资源与到场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184582" y="2743676"/>
              <a:ext cx="1323594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025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技术处置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984932" y="2743676"/>
              <a:ext cx="1611630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025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复测与交接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94360" y="3318510"/>
              <a:ext cx="153695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谁判断、谁批准？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394710" y="3318510"/>
              <a:ext cx="153695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人员、备件、准入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195060" y="3318510"/>
              <a:ext cx="153695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诊断、修复与调试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995410" y="3318510"/>
              <a:ext cx="136626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恢复条件与签认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09600" y="4057650"/>
            <a:ext cx="10972800" cy="1533525"/>
            <a:chOff x="609600" y="4057650"/>
            <a:chExt cx="10972800" cy="1533525"/>
          </a:xfrm>
        </p:grpSpPr>
        <p:sp>
          <p:nvSpPr>
            <p:cNvPr id="24" name="Rectangle 24"/>
            <p:cNvSpPr/>
            <p:nvPr/>
          </p:nvSpPr>
          <p:spPr>
            <a:xfrm>
              <a:off x="609600" y="4057650"/>
              <a:ext cx="10972800" cy="1533525"/>
            </a:xfrm>
            <a:prstGeom prst="rect">
              <a:avLst/>
            </a:prstGeom>
            <a:solidFill>
              <a:srgbClr val="EAF3F9"/>
            </a:solidFill>
            <a:ln>
              <a:noFill/>
            </a:ln>
          </p:spPr>
          <p:txBody>
            <a:bodyPr wrap="none">
              <a:noAutofit/>
            </a:bodyPr>
            <a:p/>
          </p:txBody>
        </p:sp>
        <p:sp>
          <p:nvSpPr>
            <p:cNvPr id="25" name="TextBox 25"/>
            <p:cNvSpPr txBox="1"/>
            <p:nvPr/>
          </p:nvSpPr>
          <p:spPr>
            <a:xfrm>
              <a:off x="812482" y="4286726"/>
              <a:ext cx="6796278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025" b="1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为什么“平均维修很快”，客户仍然觉得恢复很慢？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22960" y="4823460"/>
              <a:ext cx="63162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因为统计可能只覆盖现场作业，而没有覆盖等待；少数长尾故障又被平均数稀释。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22960" y="5204460"/>
              <a:ext cx="507752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087CC1"/>
                  </a:solidFill>
                  <a:latin typeface="Noto Sans CJK SC"/>
                  <a:ea typeface="Noto Sans CJK SC"/>
                  <a:cs typeface="Noto Sans CJK SC"/>
                </a:rPr>
                <a:t>管理建议：分段记录时间戳，同时看中位数、P90与高后果事件。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94360" y="5937885"/>
            <a:ext cx="5239131" cy="243840"/>
            <a:chOff x="594360" y="5937885"/>
            <a:chExt cx="5239131" cy="243840"/>
          </a:xfrm>
        </p:grpSpPr>
        <p:sp>
          <p:nvSpPr>
            <p:cNvPr id="29" name="TextBox 29"/>
            <p:cNvSpPr txBox="1"/>
            <p:nvPr/>
          </p:nvSpPr>
          <p:spPr>
            <a:xfrm>
              <a:off x="594360" y="5937885"/>
              <a:ext cx="570039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先确认计时口径与排除项，再比较地区/故障类型；无现有项目实测时长。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23" grpId="0"/>
      <p:bldP spid="28" grpId="0"/>
      <p:bldP spid="3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>
            <a:noAutofit/>
          </a:bodyPr>
          <a:p/>
        </p:txBody>
      </p:sp>
      <p:grpSp>
        <p:nvGrpSpPr>
          <p:cNvPr id="6" name="Group 6"/>
          <p:cNvGrpSpPr/>
          <p:nvPr/>
        </p:nvGrpSpPr>
        <p:grpSpPr>
          <a:xfrm>
            <a:off x="596265" y="228600"/>
            <a:ext cx="10998517" cy="6405562"/>
            <a:chOff x="596265" y="228600"/>
            <a:chExt cx="10998517" cy="6405562"/>
          </a:xfrm>
        </p:grpSpPr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515600" y="228600"/>
              <a:ext cx="1066800" cy="409575"/>
            </a:xfrm>
            <a:prstGeom prst="rect">
              <a:avLst/>
            </a:prstGeom>
          </p:spPr>
        </p:pic>
        <p:sp>
          <p:nvSpPr>
            <p:cNvPr id="4" name="TextBox 4"/>
            <p:cNvSpPr txBox="1"/>
            <p:nvPr/>
          </p:nvSpPr>
          <p:spPr>
            <a:xfrm>
              <a:off x="596265" y="6420802"/>
              <a:ext cx="169843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05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历橙 你的能源历程伙伴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998987" y="6428899"/>
              <a:ext cx="5957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/>
              <a:r>
                <a:rPr lang="zh-CN" sz="975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08 / 22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79120" y="353378"/>
            <a:ext cx="6361748" cy="1027747"/>
            <a:chOff x="579120" y="353378"/>
            <a:chExt cx="6361748" cy="1027747"/>
          </a:xfrm>
        </p:grpSpPr>
        <p:sp>
          <p:nvSpPr>
            <p:cNvPr id="7" name="TextBox 7"/>
            <p:cNvSpPr txBox="1"/>
            <p:nvPr/>
          </p:nvSpPr>
          <p:spPr>
            <a:xfrm>
              <a:off x="596265" y="353378"/>
              <a:ext cx="298526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050" dirty="0">
                  <a:solidFill>
                    <a:srgbClr val="087CC1"/>
                  </a:solidFill>
                  <a:latin typeface="Noto Sans CJK SC"/>
                  <a:ea typeface="Noto Sans CJK SC"/>
                  <a:cs typeface="Noto Sans CJK SC"/>
                </a:rPr>
                <a:t>合同设计 / 避免“响应完成、恢复未完成”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79120" y="893445"/>
              <a:ext cx="6943671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400" b="1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SLA先定义恢复边界，再讨论“几小时响应”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84835" y="1884998"/>
            <a:ext cx="3872008" cy="3525202"/>
            <a:chOff x="584835" y="1884998"/>
            <a:chExt cx="3872008" cy="3525202"/>
          </a:xfrm>
        </p:grpSpPr>
        <p:sp>
          <p:nvSpPr>
            <p:cNvPr id="10" name="TextBox 10"/>
            <p:cNvSpPr txBox="1"/>
            <p:nvPr/>
          </p:nvSpPr>
          <p:spPr>
            <a:xfrm>
              <a:off x="584835" y="1884998"/>
              <a:ext cx="4054602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950" b="1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四个事件，不能用一个时限代替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94360" y="2594610"/>
              <a:ext cx="119557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087CC1"/>
                  </a:solidFill>
                  <a:latin typeface="Noto Sans CJK SC"/>
                  <a:ea typeface="Noto Sans CJK SC"/>
                  <a:cs typeface="Noto Sans CJK SC"/>
                </a:rPr>
                <a:t>首次有效响应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94360" y="3013710"/>
              <a:ext cx="20490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已接单，不代表已经定位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94360" y="3670935"/>
              <a:ext cx="119557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087CC1"/>
                  </a:solidFill>
                  <a:latin typeface="Noto Sans CJK SC"/>
                  <a:ea typeface="Noto Sans CJK SC"/>
                  <a:cs typeface="Noto Sans CJK SC"/>
                </a:rPr>
                <a:t>合格人员到场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94360" y="4090035"/>
              <a:ext cx="239039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人已到，不代表满足作业条件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94360" y="4747260"/>
              <a:ext cx="202176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087CC1"/>
                  </a:solidFill>
                  <a:latin typeface="Noto Sans CJK SC"/>
                  <a:ea typeface="Noto Sans CJK SC"/>
                  <a:cs typeface="Noto Sans CJK SC"/>
                </a:rPr>
                <a:t>关键能力恢复 / 完整关闭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94360" y="5166360"/>
              <a:ext cx="256108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部分恢复，不代表所有风险解除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924550" y="1781175"/>
            <a:ext cx="5657850" cy="3914775"/>
            <a:chOff x="5924550" y="1781175"/>
            <a:chExt cx="5657850" cy="3914775"/>
          </a:xfrm>
        </p:grpSpPr>
        <p:sp>
          <p:nvSpPr>
            <p:cNvPr id="18" name="Rectangle 18"/>
            <p:cNvSpPr/>
            <p:nvPr/>
          </p:nvSpPr>
          <p:spPr>
            <a:xfrm>
              <a:off x="5924550" y="1781175"/>
              <a:ext cx="5657850" cy="3914775"/>
            </a:xfrm>
            <a:prstGeom prst="rect">
              <a:avLst/>
            </a:prstGeom>
            <a:solidFill>
              <a:srgbClr val="F3F6F8"/>
            </a:solidFill>
            <a:ln>
              <a:noFill/>
            </a:ln>
          </p:spPr>
          <p:txBody>
            <a:bodyPr wrap="none">
              <a:noAutofit/>
            </a:bodyPr>
            <a:p/>
          </p:txBody>
        </p:sp>
        <p:sp>
          <p:nvSpPr>
            <p:cNvPr id="19" name="TextBox 19"/>
            <p:cNvSpPr txBox="1"/>
            <p:nvPr/>
          </p:nvSpPr>
          <p:spPr>
            <a:xfrm>
              <a:off x="6185535" y="2046922"/>
              <a:ext cx="3499866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950" b="1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售后负责人需要锁定的口径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195060" y="2699385"/>
              <a:ext cx="307314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计时起止：受理、授权、可作业、验收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195060" y="3242310"/>
              <a:ext cx="290245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故障分级：安全、全停机、部分降额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195060" y="3785235"/>
              <a:ext cx="256108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服务日历：值守、夜间、节假日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195060" y="4328160"/>
              <a:ext cx="290245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依赖项：准入、远程权限、正确备件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195060" y="4871085"/>
              <a:ext cx="307314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例外机制：等待如何证明、谁负责签认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194108" y="5329714"/>
              <a:ext cx="397992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75" dirty="0">
                  <a:solidFill>
                    <a:srgbClr val="B94B00"/>
                  </a:solidFill>
                  <a:latin typeface="Noto Sans CJK SC"/>
                  <a:ea typeface="Noto Sans CJK SC"/>
                  <a:cs typeface="Noto Sans CJK SC"/>
                </a:rPr>
                <a:t>先核验交付条件，再承诺对方真正需要的结果。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97218" y="6009799"/>
            <a:ext cx="4185285" cy="198120"/>
            <a:chOff x="597218" y="6009799"/>
            <a:chExt cx="4185285" cy="198120"/>
          </a:xfrm>
        </p:grpSpPr>
        <p:sp>
          <p:nvSpPr>
            <p:cNvPr id="27" name="TextBox 27"/>
            <p:cNvSpPr txBox="1"/>
            <p:nvPr/>
          </p:nvSpPr>
          <p:spPr>
            <a:xfrm>
              <a:off x="597218" y="6009799"/>
              <a:ext cx="460933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975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合同治理分析，非法律意见；具体责任、时效和排除项以双方合同为准。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7" grpId="0"/>
      <p:bldP spid="26" grpId="0"/>
      <p:bldP spid="2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>
            <a:noAutofit/>
          </a:bodyPr>
          <a:p/>
        </p:txBody>
      </p:sp>
      <p:grpSp>
        <p:nvGrpSpPr>
          <p:cNvPr id="6" name="Group 6"/>
          <p:cNvGrpSpPr/>
          <p:nvPr/>
        </p:nvGrpSpPr>
        <p:grpSpPr>
          <a:xfrm>
            <a:off x="596265" y="228600"/>
            <a:ext cx="10998517" cy="6405562"/>
            <a:chOff x="596265" y="228600"/>
            <a:chExt cx="10998517" cy="6405562"/>
          </a:xfrm>
        </p:grpSpPr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515600" y="228600"/>
              <a:ext cx="1066800" cy="409575"/>
            </a:xfrm>
            <a:prstGeom prst="rect">
              <a:avLst/>
            </a:prstGeom>
          </p:spPr>
        </p:pic>
        <p:sp>
          <p:nvSpPr>
            <p:cNvPr id="4" name="TextBox 4"/>
            <p:cNvSpPr txBox="1"/>
            <p:nvPr/>
          </p:nvSpPr>
          <p:spPr>
            <a:xfrm>
              <a:off x="596265" y="6420802"/>
              <a:ext cx="169843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05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历橙 你的能源历程伙伴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998987" y="6428899"/>
              <a:ext cx="5957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/>
              <a:r>
                <a:rPr lang="zh-CN" sz="975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09 / 22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79120" y="353378"/>
            <a:ext cx="7117842" cy="1027747"/>
            <a:chOff x="579120" y="353378"/>
            <a:chExt cx="7117842" cy="1027747"/>
          </a:xfrm>
        </p:grpSpPr>
        <p:sp>
          <p:nvSpPr>
            <p:cNvPr id="7" name="TextBox 7"/>
            <p:cNvSpPr txBox="1"/>
            <p:nvPr/>
          </p:nvSpPr>
          <p:spPr>
            <a:xfrm>
              <a:off x="596265" y="353378"/>
              <a:ext cx="245477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050" dirty="0">
                  <a:solidFill>
                    <a:srgbClr val="087CC1"/>
                  </a:solidFill>
                  <a:latin typeface="Noto Sans CJK SC"/>
                  <a:ea typeface="Noto Sans CJK SC"/>
                  <a:cs typeface="Noto Sans CJK SC"/>
                </a:rPr>
                <a:t>物流 × 仓储 / 服务网络的配置逻辑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79120" y="893445"/>
              <a:ext cx="734034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400" b="1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服务网络不应按国旗铺点，而应按恢复路径布置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09600" y="1819275"/>
            <a:ext cx="5057775" cy="3314700"/>
            <a:chOff x="609600" y="1819275"/>
            <a:chExt cx="5057775" cy="3314700"/>
          </a:xfrm>
        </p:grpSpPr>
        <p:sp>
          <p:nvSpPr>
            <p:cNvPr id="10" name="Rectangle 10"/>
            <p:cNvSpPr/>
            <p:nvPr/>
          </p:nvSpPr>
          <p:spPr>
            <a:xfrm>
              <a:off x="609600" y="1819275"/>
              <a:ext cx="5057775" cy="838200"/>
            </a:xfrm>
            <a:prstGeom prst="rect">
              <a:avLst/>
            </a:prstGeom>
            <a:solidFill>
              <a:srgbClr val="EAF3F9"/>
            </a:solidFill>
            <a:ln>
              <a:noFill/>
            </a:ln>
          </p:spPr>
          <p:txBody>
            <a:bodyPr wrap="none">
              <a:noAutofit/>
            </a:bodyPr>
            <a:p/>
          </p:txBody>
        </p:sp>
        <p:sp>
          <p:nvSpPr>
            <p:cNvPr id="11" name="TextBox 11"/>
            <p:cNvSpPr txBox="1"/>
            <p:nvPr/>
          </p:nvSpPr>
          <p:spPr>
            <a:xfrm>
              <a:off x="815340" y="1958340"/>
              <a:ext cx="145161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800" b="1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远程能力池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20102" y="2322671"/>
              <a:ext cx="3819906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425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知识、版本与诊断集中，减少不必要出行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09600" y="2943225"/>
              <a:ext cx="5057775" cy="952500"/>
            </a:xfrm>
            <a:prstGeom prst="rect">
              <a:avLst/>
            </a:prstGeom>
            <a:solidFill>
              <a:srgbClr val="F3F6F8"/>
            </a:solidFill>
            <a:ln>
              <a:noFill/>
            </a:ln>
          </p:spPr>
          <p:txBody>
            <a:bodyPr wrap="none">
              <a:noAutofit/>
            </a:bodyPr>
            <a:p/>
          </p:txBody>
        </p:sp>
        <p:sp>
          <p:nvSpPr>
            <p:cNvPr id="14" name="TextBox 14"/>
            <p:cNvSpPr txBox="1"/>
            <p:nvPr/>
          </p:nvSpPr>
          <p:spPr>
            <a:xfrm>
              <a:off x="815340" y="3110865"/>
              <a:ext cx="170764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800" b="1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区域现场资源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20102" y="3513296"/>
              <a:ext cx="4022598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425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按项目密度和资格配置人员、工具与常用件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09600" y="4181475"/>
              <a:ext cx="5057775" cy="952500"/>
            </a:xfrm>
            <a:prstGeom prst="rect">
              <a:avLst/>
            </a:prstGeom>
            <a:solidFill>
              <a:srgbClr val="F3F6F8"/>
            </a:solidFill>
            <a:ln>
              <a:noFill/>
            </a:ln>
          </p:spPr>
          <p:txBody>
            <a:bodyPr wrap="none">
              <a:noAutofit/>
            </a:bodyPr>
            <a:p/>
          </p:txBody>
        </p:sp>
        <p:sp>
          <p:nvSpPr>
            <p:cNvPr id="17" name="TextBox 17"/>
            <p:cNvSpPr txBox="1"/>
            <p:nvPr/>
          </p:nvSpPr>
          <p:spPr>
            <a:xfrm>
              <a:off x="815340" y="4349115"/>
              <a:ext cx="247573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800" b="1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集中维修与重件保障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20102" y="4751546"/>
              <a:ext cx="3819906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425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低频复杂工作共享资源，明确运输和兜底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175058" y="1943576"/>
            <a:ext cx="4332820" cy="3447574"/>
            <a:chOff x="6175058" y="1943576"/>
            <a:chExt cx="4332820" cy="3447574"/>
          </a:xfrm>
        </p:grpSpPr>
        <p:sp>
          <p:nvSpPr>
            <p:cNvPr id="20" name="TextBox 20"/>
            <p:cNvSpPr txBox="1"/>
            <p:nvPr/>
          </p:nvSpPr>
          <p:spPr>
            <a:xfrm>
              <a:off x="6175058" y="1943576"/>
              <a:ext cx="4780026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025" b="1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三项权衡，比“每国一个点”更重要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185535" y="2737485"/>
              <a:ext cx="136626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087CC1"/>
                  </a:solidFill>
                  <a:latin typeface="Noto Sans CJK SC"/>
                  <a:ea typeface="Noto Sans CJK SC"/>
                  <a:cs typeface="Noto Sans CJK SC"/>
                </a:rPr>
                <a:t>密度与固定成本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185535" y="3108960"/>
              <a:ext cx="358521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规模不足时，驻点可能低利用、难以留住技能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185535" y="3756660"/>
              <a:ext cx="136626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087CC1"/>
                  </a:solidFill>
                  <a:latin typeface="Noto Sans CJK SC"/>
                  <a:ea typeface="Noto Sans CJK SC"/>
                  <a:cs typeface="Noto Sans CJK SC"/>
                </a:rPr>
                <a:t>共性与共享库存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185535" y="4128135"/>
              <a:ext cx="341452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型号、版本与故障共性，决定资源能否共享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185535" y="4775835"/>
              <a:ext cx="102489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087CC1"/>
                  </a:solidFill>
                  <a:latin typeface="Noto Sans CJK SC"/>
                  <a:ea typeface="Noto Sans CJK SC"/>
                  <a:cs typeface="Noto Sans CJK SC"/>
                </a:rPr>
                <a:t>长尾与兜底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185535" y="5147310"/>
              <a:ext cx="324383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低频高后果故障，不能依赖“临时找人”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86740" y="5720715"/>
            <a:ext cx="6526530" cy="365760"/>
            <a:chOff x="586740" y="5720715"/>
            <a:chExt cx="6526530" cy="365760"/>
          </a:xfrm>
        </p:grpSpPr>
        <p:sp>
          <p:nvSpPr>
            <p:cNvPr id="28" name="TextBox 28"/>
            <p:cNvSpPr txBox="1"/>
            <p:nvPr/>
          </p:nvSpPr>
          <p:spPr>
            <a:xfrm>
              <a:off x="586740" y="5720715"/>
              <a:ext cx="708431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800" dirty="0">
                  <a:solidFill>
                    <a:srgbClr val="B94B00"/>
                  </a:solidFill>
                  <a:latin typeface="Noto Sans CJK SC"/>
                  <a:ea typeface="Noto Sans CJK SC"/>
                  <a:cs typeface="Noto Sans CJK SC"/>
                </a:rPr>
                <a:t>网络优化的目标，是可兑现的恢复能力，而不是办公室数量。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9" grpId="0"/>
      <p:bldP spid="27" grpId="0"/>
      <p:bldP spid="2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>
            <a:noAutofit/>
          </a:bodyPr>
          <a:p/>
        </p:txBody>
      </p:sp>
      <p:grpSp>
        <p:nvGrpSpPr>
          <p:cNvPr id="6" name="Group 6"/>
          <p:cNvGrpSpPr/>
          <p:nvPr/>
        </p:nvGrpSpPr>
        <p:grpSpPr>
          <a:xfrm>
            <a:off x="596265" y="228600"/>
            <a:ext cx="10998517" cy="6405562"/>
            <a:chOff x="596265" y="228600"/>
            <a:chExt cx="10998517" cy="6405562"/>
          </a:xfrm>
        </p:grpSpPr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515600" y="228600"/>
              <a:ext cx="1066800" cy="409575"/>
            </a:xfrm>
            <a:prstGeom prst="rect">
              <a:avLst/>
            </a:prstGeom>
          </p:spPr>
        </p:pic>
        <p:sp>
          <p:nvSpPr>
            <p:cNvPr id="4" name="TextBox 4"/>
            <p:cNvSpPr txBox="1"/>
            <p:nvPr/>
          </p:nvSpPr>
          <p:spPr>
            <a:xfrm>
              <a:off x="596265" y="6420802"/>
              <a:ext cx="169843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05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历橙 你的能源历程伙伴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998987" y="6428899"/>
              <a:ext cx="5957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/>
              <a:r>
                <a:rPr lang="zh-CN" sz="975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10 / 22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79120" y="353378"/>
            <a:ext cx="7453884" cy="1027747"/>
            <a:chOff x="579120" y="353378"/>
            <a:chExt cx="7453884" cy="1027747"/>
          </a:xfrm>
        </p:grpSpPr>
        <p:sp>
          <p:nvSpPr>
            <p:cNvPr id="7" name="TextBox 7"/>
            <p:cNvSpPr txBox="1"/>
            <p:nvPr/>
          </p:nvSpPr>
          <p:spPr>
            <a:xfrm>
              <a:off x="596265" y="353378"/>
              <a:ext cx="20891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050" dirty="0">
                  <a:solidFill>
                    <a:srgbClr val="087CC1"/>
                  </a:solidFill>
                  <a:latin typeface="Noto Sans CJK SC"/>
                  <a:ea typeface="Noto Sans CJK SC"/>
                  <a:cs typeface="Noto Sans CJK SC"/>
                </a:rPr>
                <a:t>仓储层 / 库存不只是采购问题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79120" y="893445"/>
              <a:ext cx="7681722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400" b="1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备件库存的本质，是用确定成本对冲停机尾部风险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09600" y="1790700"/>
            <a:ext cx="10972800" cy="2343150"/>
            <a:chOff x="609600" y="1790700"/>
            <a:chExt cx="10972800" cy="2343150"/>
          </a:xfrm>
        </p:grpSpPr>
        <p:sp>
          <p:nvSpPr>
            <p:cNvPr id="10" name="Rectangle 10"/>
            <p:cNvSpPr/>
            <p:nvPr/>
          </p:nvSpPr>
          <p:spPr>
            <a:xfrm>
              <a:off x="609600" y="1790700"/>
              <a:ext cx="10972800" cy="2343150"/>
            </a:xfrm>
            <a:prstGeom prst="rect">
              <a:avLst/>
            </a:prstGeom>
            <a:solidFill>
              <a:srgbClr val="EAF3F9"/>
            </a:solidFill>
            <a:ln>
              <a:noFill/>
            </a:ln>
          </p:spPr>
          <p:txBody>
            <a:bodyPr wrap="none">
              <a:noAutofit/>
            </a:bodyPr>
            <a:p/>
          </p:txBody>
        </p:sp>
        <p:sp>
          <p:nvSpPr>
            <p:cNvPr id="11" name="TextBox 11"/>
            <p:cNvSpPr txBox="1"/>
            <p:nvPr/>
          </p:nvSpPr>
          <p:spPr>
            <a:xfrm>
              <a:off x="821055" y="2016442"/>
              <a:ext cx="420395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dirty="0">
                  <a:solidFill>
                    <a:srgbClr val="087CC1"/>
                  </a:solidFill>
                  <a:latin typeface="Noto Sans CJK SC"/>
                  <a:ea typeface="Noto Sans CJK SC"/>
                  <a:cs typeface="Noto Sans CJK SC"/>
                </a:rPr>
                <a:t>简化假设示例｜不对应现有客户或欧洲市场均值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14388" y="2569369"/>
              <a:ext cx="2378934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875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年持有成本 €3,000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22960" y="3147060"/>
              <a:ext cx="29030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每次缺件额外等待 5 个受影响运行日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22960" y="3604260"/>
              <a:ext cx="209627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每日假设贡献损失 €1,600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008495" y="2517458"/>
              <a:ext cx="392658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仅按这两类成本比较的年频次临界值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984682" y="2991326"/>
              <a:ext cx="3519789" cy="716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525" b="1" dirty="0">
                  <a:solidFill>
                    <a:srgbClr val="B94B00"/>
                  </a:solidFill>
                  <a:latin typeface="Noto Sans CJK SC"/>
                  <a:ea typeface="Noto Sans CJK SC"/>
                  <a:cs typeface="Noto Sans CJK SC"/>
                </a:rPr>
                <a:t>约 0.38 次 / 年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010400" y="3648075"/>
              <a:ext cx="286516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3,000 ÷ (5 × 1,600) = 0.375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85788" y="4464844"/>
            <a:ext cx="7713583" cy="1712118"/>
            <a:chOff x="585788" y="4464844"/>
            <a:chExt cx="7713583" cy="1712118"/>
          </a:xfrm>
        </p:grpSpPr>
        <p:sp>
          <p:nvSpPr>
            <p:cNvPr id="19" name="TextBox 19"/>
            <p:cNvSpPr txBox="1"/>
            <p:nvPr/>
          </p:nvSpPr>
          <p:spPr>
            <a:xfrm>
              <a:off x="585788" y="4464844"/>
              <a:ext cx="843915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875" b="1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“很少坏”并不自动意味着“不该备”；关键在等待代价与共享效率。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94360" y="5004435"/>
              <a:ext cx="563346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高后果、长交期、无替代件优先评估；区域共享可以降低单站持有成本。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94360" y="5433060"/>
              <a:ext cx="529209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反过来，版本迭代、呆滞与残值风险，会使“多备一点”同样昂贵。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96265" y="5963602"/>
              <a:ext cx="784695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05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此式未覆盖全部采购、报废、税费与失效分布；频率和等待必须用实际故障/物流记录估计，不能直接作为采购建议。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8" grpId="0"/>
      <p:bldP spid="2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>
            <a:noAutofit/>
          </a:bodyPr>
          <a:p/>
        </p:txBody>
      </p:sp>
      <p:grpSp>
        <p:nvGrpSpPr>
          <p:cNvPr id="6" name="Group 6"/>
          <p:cNvGrpSpPr/>
          <p:nvPr/>
        </p:nvGrpSpPr>
        <p:grpSpPr>
          <a:xfrm>
            <a:off x="596265" y="228600"/>
            <a:ext cx="10998517" cy="6405562"/>
            <a:chOff x="596265" y="228600"/>
            <a:chExt cx="10998517" cy="6405562"/>
          </a:xfrm>
        </p:grpSpPr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515600" y="228600"/>
              <a:ext cx="1066800" cy="409575"/>
            </a:xfrm>
            <a:prstGeom prst="rect">
              <a:avLst/>
            </a:prstGeom>
          </p:spPr>
        </p:pic>
        <p:sp>
          <p:nvSpPr>
            <p:cNvPr id="4" name="TextBox 4"/>
            <p:cNvSpPr txBox="1"/>
            <p:nvPr/>
          </p:nvSpPr>
          <p:spPr>
            <a:xfrm>
              <a:off x="596265" y="6420802"/>
              <a:ext cx="169843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05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历橙 你的能源历程伙伴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998987" y="6428899"/>
              <a:ext cx="5957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/>
              <a:r>
                <a:rPr lang="zh-CN" sz="975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11 / 22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79120" y="353378"/>
            <a:ext cx="6781800" cy="1027747"/>
            <a:chOff x="579120" y="353378"/>
            <a:chExt cx="6781800" cy="1027747"/>
          </a:xfrm>
        </p:grpSpPr>
        <p:sp>
          <p:nvSpPr>
            <p:cNvPr id="7" name="TextBox 7"/>
            <p:cNvSpPr txBox="1"/>
            <p:nvPr/>
          </p:nvSpPr>
          <p:spPr>
            <a:xfrm>
              <a:off x="596265" y="353378"/>
              <a:ext cx="328396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050" dirty="0">
                  <a:solidFill>
                    <a:srgbClr val="087CC1"/>
                  </a:solidFill>
                  <a:latin typeface="Noto Sans CJK SC"/>
                  <a:ea typeface="Noto Sans CJK SC"/>
                  <a:cs typeface="Noto Sans CJK SC"/>
                </a:rPr>
                <a:t>诊断层 / 售后成本的一部分，在交付时已经形成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79120" y="893445"/>
              <a:ext cx="6998970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400" b="1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远程诊断要为现场减负，交接资料必须可执行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83882" y="1924526"/>
            <a:ext cx="5083493" cy="3542824"/>
            <a:chOff x="583882" y="1924526"/>
            <a:chExt cx="5083493" cy="3542824"/>
          </a:xfrm>
        </p:grpSpPr>
        <p:sp>
          <p:nvSpPr>
            <p:cNvPr id="10" name="TextBox 10"/>
            <p:cNvSpPr txBox="1"/>
            <p:nvPr/>
          </p:nvSpPr>
          <p:spPr>
            <a:xfrm>
              <a:off x="583882" y="1924526"/>
              <a:ext cx="4203954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025" b="1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误区：把告警代码当作故障结论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94360" y="2585085"/>
              <a:ext cx="256108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保护动作可能是结果，不是根因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94360" y="3023235"/>
              <a:ext cx="290245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重启后暂时消失，不等于异常已消除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94360" y="3461385"/>
              <a:ext cx="290245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缺少工况与版本，会让排查反复起步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09600" y="4105275"/>
              <a:ext cx="5057775" cy="1362075"/>
            </a:xfrm>
            <a:prstGeom prst="rect">
              <a:avLst/>
            </a:prstGeom>
            <a:solidFill>
              <a:srgbClr val="F3F6F8"/>
            </a:solidFill>
            <a:ln>
              <a:noFill/>
            </a:ln>
          </p:spPr>
          <p:txBody>
            <a:bodyPr wrap="none">
              <a:noAutofit/>
            </a:bodyPr>
            <a:p/>
          </p:txBody>
        </p:sp>
        <p:sp>
          <p:nvSpPr>
            <p:cNvPr id="15" name="TextBox 15"/>
            <p:cNvSpPr txBox="1"/>
            <p:nvPr/>
          </p:nvSpPr>
          <p:spPr>
            <a:xfrm>
              <a:off x="815340" y="4339590"/>
              <a:ext cx="324383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800" dirty="0">
                  <a:solidFill>
                    <a:srgbClr val="B94B00"/>
                  </a:solidFill>
                  <a:latin typeface="Noto Sans CJK SC"/>
                  <a:ea typeface="Noto Sans CJK SC"/>
                  <a:cs typeface="Noto Sans CJK SC"/>
                </a:rPr>
                <a:t>投运交接没有留下的资料，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15340" y="4749165"/>
              <a:ext cx="375589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800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可能在质保期被重复支付成本。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203632" y="1924526"/>
            <a:ext cx="5378768" cy="3361849"/>
            <a:chOff x="6203632" y="1924526"/>
            <a:chExt cx="5378768" cy="3361849"/>
          </a:xfrm>
        </p:grpSpPr>
        <p:sp>
          <p:nvSpPr>
            <p:cNvPr id="18" name="TextBox 18"/>
            <p:cNvSpPr txBox="1"/>
            <p:nvPr/>
          </p:nvSpPr>
          <p:spPr>
            <a:xfrm>
              <a:off x="6203632" y="1924526"/>
              <a:ext cx="3339846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025" b="1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诊断应该交给现场什么？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6229350" y="2419350"/>
              <a:ext cx="5353050" cy="9525"/>
            </a:xfrm>
            <a:custGeom>
              <a:avLst/>
              <a:gdLst/>
              <a:ahLst/>
              <a:cxnLst/>
              <a:rect l="l" t="t" r="r" b="b"/>
              <a:pathLst>
                <a:path w="5353050" h="9525">
                  <a:moveTo>
                    <a:pt x="0" y="0"/>
                  </a:moveTo>
                  <a:lnTo>
                    <a:pt x="5353050" y="0"/>
                  </a:lnTo>
                </a:path>
              </a:pathLst>
            </a:custGeom>
            <a:noFill/>
            <a:ln w="9525">
              <a:solidFill>
                <a:srgbClr val="D7E1E7"/>
              </a:solidFill>
            </a:ln>
          </p:spPr>
          <p:txBody>
            <a:bodyPr wrap="none">
              <a:noAutofit/>
            </a:bodyPr>
            <a:p/>
          </p:txBody>
        </p:sp>
        <p:sp>
          <p:nvSpPr>
            <p:cNvPr id="20" name="TextBox 20"/>
            <p:cNvSpPr txBox="1"/>
            <p:nvPr/>
          </p:nvSpPr>
          <p:spPr>
            <a:xfrm>
              <a:off x="6214110" y="2766060"/>
              <a:ext cx="170764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087CC1"/>
                  </a:solidFill>
                  <a:latin typeface="Noto Sans CJK SC"/>
                  <a:ea typeface="Noto Sans CJK SC"/>
                  <a:cs typeface="Noto Sans CJK SC"/>
                </a:rPr>
                <a:t>异常时序与候选原因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210300" y="3076575"/>
              <a:ext cx="33718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证据支持什么，还有哪些排他验证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214110" y="3718560"/>
              <a:ext cx="170764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087CC1"/>
                  </a:solidFill>
                  <a:latin typeface="Noto Sans CJK SC"/>
                  <a:ea typeface="Noto Sans CJK SC"/>
                  <a:cs typeface="Noto Sans CJK SC"/>
                </a:rPr>
                <a:t>当前配置与允许动作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210300" y="4029075"/>
              <a:ext cx="379857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固件、参数、远程权限、厂商授权边界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214110" y="4671060"/>
              <a:ext cx="170764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087CC1"/>
                  </a:solidFill>
                  <a:latin typeface="Noto Sans CJK SC"/>
                  <a:ea typeface="Noto Sans CJK SC"/>
                  <a:cs typeface="Noto Sans CJK SC"/>
                </a:rPr>
                <a:t>恢复标准与任务资源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210300" y="4981575"/>
              <a:ext cx="401193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成功的判断条件、工具、备件和人员技能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86740" y="5749290"/>
            <a:ext cx="8446770" cy="365760"/>
            <a:chOff x="586740" y="5749290"/>
            <a:chExt cx="8446770" cy="365760"/>
          </a:xfrm>
        </p:grpSpPr>
        <p:sp>
          <p:nvSpPr>
            <p:cNvPr id="27" name="TextBox 27"/>
            <p:cNvSpPr txBox="1"/>
            <p:nvPr/>
          </p:nvSpPr>
          <p:spPr>
            <a:xfrm>
              <a:off x="586740" y="5749290"/>
              <a:ext cx="913257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800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衡量诊断价值：是否减少无效到场、无效更换和重复排查，而非只看接单速度。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7" grpId="0"/>
      <p:bldP spid="26" grpId="0"/>
      <p:bldP spid="2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>
            <a:noAutofit/>
          </a:bodyPr>
          <a:p/>
        </p:txBody>
      </p:sp>
      <p:grpSp>
        <p:nvGrpSpPr>
          <p:cNvPr id="6" name="Group 6"/>
          <p:cNvGrpSpPr/>
          <p:nvPr/>
        </p:nvGrpSpPr>
        <p:grpSpPr>
          <a:xfrm>
            <a:off x="596265" y="228600"/>
            <a:ext cx="10998517" cy="6405562"/>
            <a:chOff x="596265" y="228600"/>
            <a:chExt cx="10998517" cy="6405562"/>
          </a:xfrm>
        </p:grpSpPr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515600" y="228600"/>
              <a:ext cx="1066800" cy="409575"/>
            </a:xfrm>
            <a:prstGeom prst="rect">
              <a:avLst/>
            </a:prstGeom>
          </p:spPr>
        </p:pic>
        <p:sp>
          <p:nvSpPr>
            <p:cNvPr id="4" name="TextBox 4"/>
            <p:cNvSpPr txBox="1"/>
            <p:nvPr/>
          </p:nvSpPr>
          <p:spPr>
            <a:xfrm>
              <a:off x="596265" y="6420802"/>
              <a:ext cx="169843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05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历橙 你的能源历程伙伴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998987" y="6428899"/>
              <a:ext cx="5957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/>
              <a:r>
                <a:rPr lang="zh-CN" sz="975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12 / 22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79120" y="353378"/>
            <a:ext cx="7453884" cy="1027747"/>
            <a:chOff x="579120" y="353378"/>
            <a:chExt cx="7453884" cy="1027747"/>
          </a:xfrm>
        </p:grpSpPr>
        <p:sp>
          <p:nvSpPr>
            <p:cNvPr id="7" name="TextBox 7"/>
            <p:cNvSpPr txBox="1"/>
            <p:nvPr/>
          </p:nvSpPr>
          <p:spPr>
            <a:xfrm>
              <a:off x="596265" y="353378"/>
              <a:ext cx="23878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050" dirty="0">
                  <a:solidFill>
                    <a:srgbClr val="087CC1"/>
                  </a:solidFill>
                  <a:latin typeface="Noto Sans CJK SC"/>
                  <a:ea typeface="Noto Sans CJK SC"/>
                  <a:cs typeface="Noto Sans CJK SC"/>
                </a:rPr>
                <a:t>运营层 / 从固定频次走向风险优先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79120" y="893445"/>
              <a:ext cx="7681722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400" b="1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预防维护的价值，是把高代价故障转成可安排工作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83882" y="1934051"/>
            <a:ext cx="5083493" cy="3399949"/>
            <a:chOff x="583882" y="1934051"/>
            <a:chExt cx="5083493" cy="3399949"/>
          </a:xfrm>
        </p:grpSpPr>
        <p:sp>
          <p:nvSpPr>
            <p:cNvPr id="10" name="TextBox 10"/>
            <p:cNvSpPr txBox="1"/>
            <p:nvPr/>
          </p:nvSpPr>
          <p:spPr>
            <a:xfrm>
              <a:off x="583882" y="1934051"/>
              <a:ext cx="4203954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025" b="1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什么时候“提前做”才有价值？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94360" y="2613660"/>
              <a:ext cx="307314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失效后果足够大，且存在可识别的先兆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94360" y="3061335"/>
              <a:ext cx="273177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先兆出现后，有可执行的干预动作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94360" y="3509010"/>
              <a:ext cx="307314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能在合适运行窗口内完成，并验证结果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09600" y="4200525"/>
              <a:ext cx="5057775" cy="1133475"/>
            </a:xfrm>
            <a:prstGeom prst="rect">
              <a:avLst/>
            </a:prstGeom>
            <a:solidFill>
              <a:srgbClr val="EAF3F9"/>
            </a:solidFill>
            <a:ln>
              <a:noFill/>
            </a:ln>
          </p:spPr>
          <p:txBody>
            <a:bodyPr wrap="none">
              <a:noAutofit/>
            </a:bodyPr>
            <a:p/>
          </p:txBody>
        </p:sp>
        <p:sp>
          <p:nvSpPr>
            <p:cNvPr id="15" name="TextBox 15"/>
            <p:cNvSpPr txBox="1"/>
            <p:nvPr/>
          </p:nvSpPr>
          <p:spPr>
            <a:xfrm>
              <a:off x="815340" y="4406265"/>
              <a:ext cx="375589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800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不是把所有设备“平均用力”，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15340" y="4825365"/>
              <a:ext cx="426796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800" dirty="0">
                  <a:solidFill>
                    <a:srgbClr val="B94B00"/>
                  </a:solidFill>
                  <a:latin typeface="Noto Sans CJK SC"/>
                  <a:ea typeface="Noto Sans CJK SC"/>
                  <a:cs typeface="Noto Sans CJK SC"/>
                </a:rPr>
                <a:t>而是优先处理可改变的高后果风险。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175058" y="1934051"/>
            <a:ext cx="5407342" cy="3418999"/>
            <a:chOff x="6175058" y="1934051"/>
            <a:chExt cx="5407342" cy="3418999"/>
          </a:xfrm>
        </p:grpSpPr>
        <p:sp>
          <p:nvSpPr>
            <p:cNvPr id="18" name="TextBox 18"/>
            <p:cNvSpPr txBox="1"/>
            <p:nvPr/>
          </p:nvSpPr>
          <p:spPr>
            <a:xfrm>
              <a:off x="6175058" y="1934051"/>
              <a:ext cx="3915918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025" b="1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把单点检查放回系统运行语境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6200775" y="2428875"/>
              <a:ext cx="5381625" cy="9525"/>
            </a:xfrm>
            <a:custGeom>
              <a:avLst/>
              <a:gdLst/>
              <a:ahLst/>
              <a:cxnLst/>
              <a:rect l="l" t="t" r="r" b="b"/>
              <a:pathLst>
                <a:path w="5381625" h="9525">
                  <a:moveTo>
                    <a:pt x="0" y="0"/>
                  </a:moveTo>
                  <a:lnTo>
                    <a:pt x="5381625" y="0"/>
                  </a:lnTo>
                </a:path>
              </a:pathLst>
            </a:custGeom>
            <a:noFill/>
            <a:ln w="9525">
              <a:solidFill>
                <a:srgbClr val="D7E1E7"/>
              </a:solidFill>
            </a:ln>
          </p:spPr>
          <p:txBody>
            <a:bodyPr wrap="none">
              <a:noAutofit/>
            </a:bodyPr>
            <a:p/>
          </p:txBody>
        </p:sp>
        <p:sp>
          <p:nvSpPr>
            <p:cNvPr id="20" name="TextBox 20"/>
            <p:cNvSpPr txBox="1"/>
            <p:nvPr/>
          </p:nvSpPr>
          <p:spPr>
            <a:xfrm>
              <a:off x="6185535" y="2785110"/>
              <a:ext cx="150970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087CC1"/>
                  </a:solidFill>
                  <a:latin typeface="Noto Sans CJK SC"/>
                  <a:ea typeface="Noto Sans CJK SC"/>
                  <a:cs typeface="Noto Sans CJK SC"/>
                </a:rPr>
                <a:t>热管理 / 辅助系统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181725" y="3124200"/>
              <a:ext cx="315849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状态变化是否触及持续运行边界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185535" y="3747135"/>
              <a:ext cx="168038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087CC1"/>
                  </a:solidFill>
                  <a:latin typeface="Noto Sans CJK SC"/>
                  <a:ea typeface="Noto Sans CJK SC"/>
                  <a:cs typeface="Noto Sans CJK SC"/>
                </a:rPr>
                <a:t>通信控制 / 电气连接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181725" y="4086225"/>
              <a:ext cx="315849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异常反复是否指向同一运行条件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185535" y="4709160"/>
              <a:ext cx="168038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087CC1"/>
                  </a:solidFill>
                  <a:latin typeface="Noto Sans CJK SC"/>
                  <a:ea typeface="Noto Sans CJK SC"/>
                  <a:cs typeface="Noto Sans CJK SC"/>
                </a:rPr>
                <a:t>维护效果 / 复发追踪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181725" y="5048250"/>
              <a:ext cx="379857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风险是否关闭，而不只是巡检次数增加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90550" y="5791200"/>
            <a:ext cx="6638925" cy="304800"/>
            <a:chOff x="590550" y="5791200"/>
            <a:chExt cx="6638925" cy="304800"/>
          </a:xfrm>
        </p:grpSpPr>
        <p:sp>
          <p:nvSpPr>
            <p:cNvPr id="27" name="TextBox 27"/>
            <p:cNvSpPr txBox="1"/>
            <p:nvPr/>
          </p:nvSpPr>
          <p:spPr>
            <a:xfrm>
              <a:off x="590550" y="5791200"/>
              <a:ext cx="721233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计划停机、维护费用与减少的故障风险要一起评估；不单列电池维护章节。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7" grpId="0"/>
      <p:bldP spid="26" grpId="0"/>
      <p:bldP spid="2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>
            <a:noAutofit/>
          </a:bodyPr>
          <a:p/>
        </p:txBody>
      </p:sp>
      <p:grpSp>
        <p:nvGrpSpPr>
          <p:cNvPr id="6" name="Group 6"/>
          <p:cNvGrpSpPr/>
          <p:nvPr/>
        </p:nvGrpSpPr>
        <p:grpSpPr>
          <a:xfrm>
            <a:off x="596265" y="228600"/>
            <a:ext cx="10998517" cy="6405562"/>
            <a:chOff x="596265" y="228600"/>
            <a:chExt cx="10998517" cy="6405562"/>
          </a:xfrm>
        </p:grpSpPr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515600" y="228600"/>
              <a:ext cx="1066800" cy="409575"/>
            </a:xfrm>
            <a:prstGeom prst="rect">
              <a:avLst/>
            </a:prstGeom>
          </p:spPr>
        </p:pic>
        <p:sp>
          <p:nvSpPr>
            <p:cNvPr id="4" name="TextBox 4"/>
            <p:cNvSpPr txBox="1"/>
            <p:nvPr/>
          </p:nvSpPr>
          <p:spPr>
            <a:xfrm>
              <a:off x="596265" y="6420802"/>
              <a:ext cx="169843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05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历橙 你的能源历程伙伴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998987" y="6428899"/>
              <a:ext cx="5957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/>
              <a:r>
                <a:rPr lang="zh-CN" sz="975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13 / 22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79120" y="353378"/>
            <a:ext cx="6445758" cy="1027747"/>
            <a:chOff x="579120" y="353378"/>
            <a:chExt cx="6445758" cy="1027747"/>
          </a:xfrm>
        </p:grpSpPr>
        <p:sp>
          <p:nvSpPr>
            <p:cNvPr id="7" name="TextBox 7"/>
            <p:cNvSpPr txBox="1"/>
            <p:nvPr/>
          </p:nvSpPr>
          <p:spPr>
            <a:xfrm>
              <a:off x="596265" y="353378"/>
              <a:ext cx="260412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050" dirty="0">
                  <a:solidFill>
                    <a:srgbClr val="087CC1"/>
                  </a:solidFill>
                  <a:latin typeface="Noto Sans CJK SC"/>
                  <a:ea typeface="Noto Sans CJK SC"/>
                  <a:cs typeface="Noto Sans CJK SC"/>
                </a:rPr>
                <a:t>维修 × 资产流通 / 不只比较一次报价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79120" y="893445"/>
              <a:ext cx="6657594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400" b="1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维修、更换与退役，应放在同一张经济账上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82930" y="1868805"/>
            <a:ext cx="3379470" cy="2122170"/>
            <a:chOff x="582930" y="1868805"/>
            <a:chExt cx="3379470" cy="2122170"/>
          </a:xfrm>
        </p:grpSpPr>
        <p:sp>
          <p:nvSpPr>
            <p:cNvPr id="10" name="TextBox 10"/>
            <p:cNvSpPr txBox="1"/>
            <p:nvPr/>
          </p:nvSpPr>
          <p:spPr>
            <a:xfrm>
              <a:off x="582930" y="1868805"/>
              <a:ext cx="768858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100" b="1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维修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09600" y="2371725"/>
              <a:ext cx="3352800" cy="47625"/>
            </a:xfrm>
            <a:prstGeom prst="rect">
              <a:avLst/>
            </a:prstGeom>
            <a:solidFill>
              <a:srgbClr val="087CC1"/>
            </a:solidFill>
            <a:ln>
              <a:noFill/>
            </a:ln>
          </p:spPr>
          <p:txBody>
            <a:bodyPr wrap="none">
              <a:noAutofit/>
            </a:bodyPr>
            <a:p/>
          </p:txBody>
        </p:sp>
        <p:sp>
          <p:nvSpPr>
            <p:cNvPr id="12" name="TextBox 12"/>
            <p:cNvSpPr txBox="1"/>
            <p:nvPr/>
          </p:nvSpPr>
          <p:spPr>
            <a:xfrm>
              <a:off x="594360" y="2794635"/>
              <a:ext cx="22197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能否恢复到可接受的状态？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94360" y="3270885"/>
              <a:ext cx="239039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等待、检测、返修与复发风险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94360" y="3747135"/>
              <a:ext cx="170764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剩余寿命与测试证据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4392930" y="1868805"/>
            <a:ext cx="3379470" cy="2122170"/>
            <a:chOff x="4392930" y="1868805"/>
            <a:chExt cx="3379470" cy="2122170"/>
          </a:xfrm>
        </p:grpSpPr>
        <p:sp>
          <p:nvSpPr>
            <p:cNvPr id="16" name="TextBox 16"/>
            <p:cNvSpPr txBox="1"/>
            <p:nvPr/>
          </p:nvSpPr>
          <p:spPr>
            <a:xfrm>
              <a:off x="4392930" y="1868805"/>
              <a:ext cx="768858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100" b="1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更换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4419600" y="2371725"/>
              <a:ext cx="3352800" cy="47625"/>
            </a:xfrm>
            <a:prstGeom prst="rect">
              <a:avLst/>
            </a:prstGeom>
            <a:solidFill>
              <a:srgbClr val="F58A24"/>
            </a:solidFill>
            <a:ln>
              <a:noFill/>
            </a:ln>
          </p:spPr>
          <p:txBody>
            <a:bodyPr wrap="none">
              <a:noAutofit/>
            </a:bodyPr>
            <a:p/>
          </p:txBody>
        </p:sp>
        <p:sp>
          <p:nvSpPr>
            <p:cNvPr id="18" name="TextBox 18"/>
            <p:cNvSpPr txBox="1"/>
            <p:nvPr/>
          </p:nvSpPr>
          <p:spPr>
            <a:xfrm>
              <a:off x="4404360" y="2794635"/>
              <a:ext cx="20490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新件是否真能更快恢复？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404360" y="3270885"/>
              <a:ext cx="22197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可得性、兼容性与重新调测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404360" y="3747135"/>
              <a:ext cx="170764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旧件责任与质保认定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8202930" y="1868805"/>
            <a:ext cx="3379470" cy="2122170"/>
            <a:chOff x="8202930" y="1868805"/>
            <a:chExt cx="3379470" cy="2122170"/>
          </a:xfrm>
        </p:grpSpPr>
        <p:sp>
          <p:nvSpPr>
            <p:cNvPr id="22" name="TextBox 22"/>
            <p:cNvSpPr txBox="1"/>
            <p:nvPr/>
          </p:nvSpPr>
          <p:spPr>
            <a:xfrm>
              <a:off x="8202930" y="1868805"/>
              <a:ext cx="1916168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100" b="1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退役 / 再利用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8229600" y="2371725"/>
              <a:ext cx="3352800" cy="47625"/>
            </a:xfrm>
            <a:prstGeom prst="rect">
              <a:avLst/>
            </a:prstGeom>
            <a:solidFill>
              <a:srgbClr val="087CC1"/>
            </a:solidFill>
            <a:ln>
              <a:noFill/>
            </a:ln>
          </p:spPr>
          <p:txBody>
            <a:bodyPr wrap="none">
              <a:noAutofit/>
            </a:bodyPr>
            <a:p/>
          </p:txBody>
        </p:sp>
        <p:sp>
          <p:nvSpPr>
            <p:cNvPr id="24" name="TextBox 24"/>
            <p:cNvSpPr txBox="1"/>
            <p:nvPr/>
          </p:nvSpPr>
          <p:spPr>
            <a:xfrm>
              <a:off x="8214360" y="2794635"/>
              <a:ext cx="22197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剩余价值是否有状态依据？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214360" y="3270885"/>
              <a:ext cx="20490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所有权、去向与处置责任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214360" y="3747135"/>
              <a:ext cx="239039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跨境转运与再利用条件需核验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09600" y="4429125"/>
            <a:ext cx="10972800" cy="1209675"/>
            <a:chOff x="609600" y="4429125"/>
            <a:chExt cx="10972800" cy="1209675"/>
          </a:xfrm>
        </p:grpSpPr>
        <p:sp>
          <p:nvSpPr>
            <p:cNvPr id="28" name="Rectangle 28"/>
            <p:cNvSpPr/>
            <p:nvPr/>
          </p:nvSpPr>
          <p:spPr>
            <a:xfrm>
              <a:off x="609600" y="4429125"/>
              <a:ext cx="10972800" cy="1209675"/>
            </a:xfrm>
            <a:prstGeom prst="rect">
              <a:avLst/>
            </a:prstGeom>
            <a:solidFill>
              <a:srgbClr val="EAF3F9"/>
            </a:solidFill>
            <a:ln>
              <a:noFill/>
            </a:ln>
          </p:spPr>
          <p:txBody>
            <a:bodyPr wrap="none">
              <a:noAutofit/>
            </a:bodyPr>
            <a:p/>
          </p:txBody>
        </p:sp>
        <p:sp>
          <p:nvSpPr>
            <p:cNvPr id="29" name="TextBox 29"/>
            <p:cNvSpPr txBox="1"/>
            <p:nvPr/>
          </p:nvSpPr>
          <p:spPr>
            <a:xfrm>
              <a:off x="814388" y="4636294"/>
              <a:ext cx="7686056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875" b="1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总决策成本 = 技术支出 + 等待损失 + 后续风险成本 − 可证实残值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19150" y="5114925"/>
              <a:ext cx="76390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残值是受状态、所有权与合规条件约束的变量，不是可以提前确认的固定回款。</a:t>
              </a:r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596265" y="5973128"/>
            <a:ext cx="599617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050" dirty="0">
                <a:solidFill>
                  <a:srgbClr val="627582"/>
                </a:solidFill>
                <a:latin typeface="Noto Sans CJK SC"/>
                <a:ea typeface="Noto Sans CJK SC"/>
                <a:cs typeface="Noto Sans CJK SC"/>
              </a:rPr>
              <a:t>分析框架，非具体资产估值或处置建议；实际路径需厂商、业主及合格服务方共同确认。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3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5" grpId="0"/>
      <p:bldP spid="21" grpId="0"/>
      <p:bldP spid="27" grpId="0"/>
      <p:bldP spid="3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>
            <a:noAutofit/>
          </a:bodyPr>
          <a:p/>
        </p:txBody>
      </p:sp>
      <p:grpSp>
        <p:nvGrpSpPr>
          <p:cNvPr id="6" name="Group 6"/>
          <p:cNvGrpSpPr/>
          <p:nvPr/>
        </p:nvGrpSpPr>
        <p:grpSpPr>
          <a:xfrm>
            <a:off x="596265" y="228600"/>
            <a:ext cx="10998517" cy="6405562"/>
            <a:chOff x="596265" y="228600"/>
            <a:chExt cx="10998517" cy="6405562"/>
          </a:xfrm>
        </p:grpSpPr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515600" y="228600"/>
              <a:ext cx="1066800" cy="409575"/>
            </a:xfrm>
            <a:prstGeom prst="rect">
              <a:avLst/>
            </a:prstGeom>
          </p:spPr>
        </p:pic>
        <p:sp>
          <p:nvSpPr>
            <p:cNvPr id="4" name="TextBox 4"/>
            <p:cNvSpPr txBox="1"/>
            <p:nvPr/>
          </p:nvSpPr>
          <p:spPr>
            <a:xfrm>
              <a:off x="596265" y="6420802"/>
              <a:ext cx="169843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05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历橙 你的能源历程伙伴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998987" y="6428899"/>
              <a:ext cx="5957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/>
              <a:r>
                <a:rPr lang="zh-CN" sz="975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14 / 22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79120" y="353378"/>
            <a:ext cx="6781800" cy="1027747"/>
            <a:chOff x="579120" y="353378"/>
            <a:chExt cx="6781800" cy="1027747"/>
          </a:xfrm>
        </p:grpSpPr>
        <p:sp>
          <p:nvSpPr>
            <p:cNvPr id="7" name="TextBox 7"/>
            <p:cNvSpPr txBox="1"/>
            <p:nvPr/>
          </p:nvSpPr>
          <p:spPr>
            <a:xfrm>
              <a:off x="596265" y="353378"/>
              <a:ext cx="253720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050" dirty="0">
                  <a:solidFill>
                    <a:srgbClr val="087CC1"/>
                  </a:solidFill>
                  <a:latin typeface="Noto Sans CJK SC"/>
                  <a:ea typeface="Noto Sans CJK SC"/>
                  <a:cs typeface="Noto Sans CJK SC"/>
                </a:rPr>
                <a:t>责任界面 / 避免修复与质保相互拉扯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79120" y="893445"/>
              <a:ext cx="6998970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400" b="1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质保责任不清，会把技术故障放大为商业争议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09600" y="1790700"/>
            <a:ext cx="10972800" cy="3495675"/>
            <a:chOff x="609600" y="1790700"/>
            <a:chExt cx="10972800" cy="3495675"/>
          </a:xfrm>
        </p:grpSpPr>
        <p:sp>
          <p:nvSpPr>
            <p:cNvPr id="10" name="Rectangle 10"/>
            <p:cNvSpPr/>
            <p:nvPr/>
          </p:nvSpPr>
          <p:spPr>
            <a:xfrm>
              <a:off x="609600" y="1790700"/>
              <a:ext cx="10972800" cy="495300"/>
            </a:xfrm>
            <a:prstGeom prst="rect">
              <a:avLst/>
            </a:prstGeom>
            <a:solidFill>
              <a:srgbClr val="142C3A"/>
            </a:solidFill>
            <a:ln>
              <a:noFill/>
            </a:ln>
          </p:spPr>
          <p:txBody>
            <a:bodyPr wrap="none">
              <a:noAutofit/>
            </a:bodyPr>
            <a:p/>
          </p:txBody>
        </p:sp>
        <p:sp>
          <p:nvSpPr>
            <p:cNvPr id="11" name="TextBox 11"/>
            <p:cNvSpPr txBox="1"/>
            <p:nvPr/>
          </p:nvSpPr>
          <p:spPr>
            <a:xfrm>
              <a:off x="822960" y="1985010"/>
              <a:ext cx="136626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Noto Sans CJK SC"/>
                  <a:ea typeface="Noto Sans CJK SC"/>
                  <a:cs typeface="Noto Sans CJK SC"/>
                </a:rPr>
                <a:t>四项不同的责任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042410" y="1985010"/>
              <a:ext cx="136626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Noto Sans CJK SC"/>
                  <a:ea typeface="Noto Sans CJK SC"/>
                  <a:cs typeface="Noto Sans CJK SC"/>
                </a:rPr>
                <a:t>为什么必须分开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471535" y="1985010"/>
              <a:ext cx="119557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Noto Sans CJK SC"/>
                  <a:ea typeface="Noto Sans CJK SC"/>
                  <a:cs typeface="Noto Sans CJK SC"/>
                </a:rPr>
                <a:t>应约定的依据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22960" y="2642235"/>
              <a:ext cx="136626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诊断与现场执行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042410" y="2642235"/>
              <a:ext cx="22197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执行方不自动承担根因认定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471535" y="2642235"/>
              <a:ext cx="22197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087CC1"/>
                  </a:solidFill>
                  <a:latin typeface="Noto Sans CJK SC"/>
                  <a:ea typeface="Noto Sans CJK SC"/>
                  <a:cs typeface="Noto Sans CJK SC"/>
                </a:rPr>
                <a:t>原始状态、测试与动作记录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609600" y="3086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7E1E7"/>
              </a:solidFill>
            </a:ln>
          </p:spPr>
          <p:txBody>
            <a:bodyPr wrap="none">
              <a:noAutofit/>
            </a:bodyPr>
            <a:p/>
          </p:txBody>
        </p:sp>
        <p:sp>
          <p:nvSpPr>
            <p:cNvPr id="18" name="TextBox 18"/>
            <p:cNvSpPr txBox="1"/>
            <p:nvPr/>
          </p:nvSpPr>
          <p:spPr>
            <a:xfrm>
              <a:off x="822960" y="3442335"/>
              <a:ext cx="136626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技术与参数变更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042410" y="3442335"/>
              <a:ext cx="239039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“先恢复”不等于无授权更改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471535" y="3442335"/>
              <a:ext cx="20490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087CC1"/>
                  </a:solidFill>
                  <a:latin typeface="Noto Sans CJK SC"/>
                  <a:ea typeface="Noto Sans CJK SC"/>
                  <a:cs typeface="Noto Sans CJK SC"/>
                </a:rPr>
                <a:t>授权人、版本与变更留痕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609600" y="38862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7E1E7"/>
              </a:solidFill>
            </a:ln>
          </p:spPr>
          <p:txBody>
            <a:bodyPr wrap="none">
              <a:noAutofit/>
            </a:bodyPr>
            <a:p/>
          </p:txBody>
        </p:sp>
        <p:sp>
          <p:nvSpPr>
            <p:cNvPr id="22" name="TextBox 22"/>
            <p:cNvSpPr txBox="1"/>
            <p:nvPr/>
          </p:nvSpPr>
          <p:spPr>
            <a:xfrm>
              <a:off x="822960" y="4242435"/>
              <a:ext cx="187833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根因、质保与费用认定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042410" y="4242435"/>
              <a:ext cx="273177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告警、失效件与责任归属并不等同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471535" y="4242435"/>
              <a:ext cx="170764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087CC1"/>
                  </a:solidFill>
                  <a:latin typeface="Noto Sans CJK SC"/>
                  <a:ea typeface="Noto Sans CJK SC"/>
                  <a:cs typeface="Noto Sans CJK SC"/>
                </a:rPr>
                <a:t>证据保全与合同条款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609600" y="4686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7E1E7"/>
              </a:solidFill>
            </a:ln>
          </p:spPr>
          <p:txBody>
            <a:bodyPr wrap="none">
              <a:noAutofit/>
            </a:bodyPr>
            <a:p/>
          </p:txBody>
        </p:sp>
        <p:sp>
          <p:nvSpPr>
            <p:cNvPr id="26" name="TextBox 26"/>
            <p:cNvSpPr txBox="1"/>
            <p:nvPr/>
          </p:nvSpPr>
          <p:spPr>
            <a:xfrm>
              <a:off x="822960" y="5042535"/>
              <a:ext cx="136626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恢复验收与交接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042410" y="5042535"/>
              <a:ext cx="239039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部分功能恢复不等于全部关闭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471535" y="5042535"/>
              <a:ext cx="20490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087CC1"/>
                  </a:solidFill>
                  <a:latin typeface="Noto Sans CJK SC"/>
                  <a:ea typeface="Noto Sans CJK SC"/>
                  <a:cs typeface="Noto Sans CJK SC"/>
                </a:rPr>
                <a:t>运行条件、排除项与签认</a:t>
              </a: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586740" y="5625465"/>
            <a:ext cx="759637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800" dirty="0">
                <a:solidFill>
                  <a:srgbClr val="B94B00"/>
                </a:solidFill>
                <a:latin typeface="Noto Sans CJK SC"/>
                <a:ea typeface="Noto Sans CJK SC"/>
                <a:cs typeface="Noto Sans CJK SC"/>
              </a:rPr>
              <a:t>抢修不能以丢失证据为代价；完整记录既保护客户，也保护厂商。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97218" y="6038374"/>
            <a:ext cx="447065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975" dirty="0">
                <a:solidFill>
                  <a:srgbClr val="627582"/>
                </a:solidFill>
                <a:latin typeface="Noto Sans CJK SC"/>
                <a:ea typeface="Noto Sans CJK SC"/>
                <a:cs typeface="Noto Sans CJK SC"/>
              </a:rPr>
              <a:t>合同与质量治理建议，非法律意见；不推断任何现有项目的质保归责。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2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>
            <a:noAutofit/>
          </a:bodyPr>
          <a:p/>
        </p:txBody>
      </p:sp>
      <p:grpSp>
        <p:nvGrpSpPr>
          <p:cNvPr id="6" name="Group 6"/>
          <p:cNvGrpSpPr/>
          <p:nvPr/>
        </p:nvGrpSpPr>
        <p:grpSpPr>
          <a:xfrm>
            <a:off x="596265" y="228600"/>
            <a:ext cx="10998517" cy="6405562"/>
            <a:chOff x="596265" y="228600"/>
            <a:chExt cx="10998517" cy="6405562"/>
          </a:xfrm>
        </p:grpSpPr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515600" y="228600"/>
              <a:ext cx="1066800" cy="409575"/>
            </a:xfrm>
            <a:prstGeom prst="rect">
              <a:avLst/>
            </a:prstGeom>
          </p:spPr>
        </p:pic>
        <p:sp>
          <p:nvSpPr>
            <p:cNvPr id="4" name="TextBox 4"/>
            <p:cNvSpPr txBox="1"/>
            <p:nvPr/>
          </p:nvSpPr>
          <p:spPr>
            <a:xfrm>
              <a:off x="596265" y="6420802"/>
              <a:ext cx="169843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05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历橙 你的能源历程伙伴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998987" y="6428899"/>
              <a:ext cx="5957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/>
              <a:r>
                <a:rPr lang="zh-CN" sz="975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15 / 22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79120" y="353378"/>
            <a:ext cx="6109716" cy="1027747"/>
            <a:chOff x="579120" y="353378"/>
            <a:chExt cx="6109716" cy="1027747"/>
          </a:xfrm>
        </p:grpSpPr>
        <p:sp>
          <p:nvSpPr>
            <p:cNvPr id="7" name="TextBox 7"/>
            <p:cNvSpPr txBox="1"/>
            <p:nvPr/>
          </p:nvSpPr>
          <p:spPr>
            <a:xfrm>
              <a:off x="596265" y="353378"/>
              <a:ext cx="268655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050" dirty="0">
                  <a:solidFill>
                    <a:srgbClr val="087CC1"/>
                  </a:solidFill>
                  <a:latin typeface="Noto Sans CJK SC"/>
                  <a:ea typeface="Noto Sans CJK SC"/>
                  <a:cs typeface="Noto Sans CJK SC"/>
                </a:rPr>
                <a:t>数字化 / 小程序应先解决现场证据断点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79120" y="893445"/>
              <a:ext cx="6316218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400" b="1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数字化先打通服务证据，再增加管理看板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09600" y="1752600"/>
            <a:ext cx="10972800" cy="1409700"/>
            <a:chOff x="609600" y="1752600"/>
            <a:chExt cx="10972800" cy="1409700"/>
          </a:xfrm>
        </p:grpSpPr>
        <p:sp>
          <p:nvSpPr>
            <p:cNvPr id="10" name="Rectangle 10"/>
            <p:cNvSpPr/>
            <p:nvPr/>
          </p:nvSpPr>
          <p:spPr>
            <a:xfrm>
              <a:off x="609600" y="1752600"/>
              <a:ext cx="10972800" cy="1409700"/>
            </a:xfrm>
            <a:prstGeom prst="rect">
              <a:avLst/>
            </a:prstGeom>
            <a:solidFill>
              <a:srgbClr val="EAF3F9"/>
            </a:solidFill>
            <a:ln>
              <a:noFill/>
            </a:ln>
          </p:spPr>
          <p:txBody>
            <a:bodyPr wrap="none">
              <a:noAutofit/>
            </a:bodyPr>
            <a:p/>
          </p:txBody>
        </p:sp>
        <p:sp>
          <p:nvSpPr>
            <p:cNvPr id="11" name="TextBox 11"/>
            <p:cNvSpPr txBox="1"/>
            <p:nvPr/>
          </p:nvSpPr>
          <p:spPr>
            <a:xfrm>
              <a:off x="814388" y="1978819"/>
              <a:ext cx="3383601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875" b="1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一个事件ID，贯穿一单服务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22960" y="2604135"/>
              <a:ext cx="102489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087CC1"/>
                  </a:solidFill>
                  <a:latin typeface="Noto Sans CJK SC"/>
                  <a:ea typeface="Noto Sans CJK SC"/>
                  <a:cs typeface="Noto Sans CJK SC"/>
                </a:rPr>
                <a:t>异常与版本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023235" y="2604135"/>
              <a:ext cx="102489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087CC1"/>
                  </a:solidFill>
                  <a:latin typeface="Noto Sans CJK SC"/>
                  <a:ea typeface="Noto Sans CJK SC"/>
                  <a:cs typeface="Noto Sans CJK SC"/>
                </a:rPr>
                <a:t>授权与动作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223510" y="2604135"/>
              <a:ext cx="119557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087CC1"/>
                  </a:solidFill>
                  <a:latin typeface="Noto Sans CJK SC"/>
                  <a:ea typeface="Noto Sans CJK SC"/>
                  <a:cs typeface="Noto Sans CJK SC"/>
                </a:rPr>
                <a:t>部件与序列号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42860" y="2604135"/>
              <a:ext cx="102489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087CC1"/>
                  </a:solidFill>
                  <a:latin typeface="Noto Sans CJK SC"/>
                  <a:ea typeface="Noto Sans CJK SC"/>
                  <a:cs typeface="Noto Sans CJK SC"/>
                </a:rPr>
                <a:t>测试与签认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843135" y="2604135"/>
              <a:ext cx="102489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087CC1"/>
                  </a:solidFill>
                  <a:latin typeface="Noto Sans CJK SC"/>
                  <a:ea typeface="Noto Sans CJK SC"/>
                  <a:cs typeface="Noto Sans CJK SC"/>
                </a:rPr>
                <a:t>复发与复盘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83882" y="3658076"/>
            <a:ext cx="9939718" cy="1228249"/>
            <a:chOff x="583882" y="3658076"/>
            <a:chExt cx="9939718" cy="1228249"/>
          </a:xfrm>
        </p:grpSpPr>
        <p:sp>
          <p:nvSpPr>
            <p:cNvPr id="18" name="TextBox 18"/>
            <p:cNvSpPr txBox="1"/>
            <p:nvPr/>
          </p:nvSpPr>
          <p:spPr>
            <a:xfrm>
              <a:off x="583882" y="3658076"/>
              <a:ext cx="3051810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025" b="1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对现场：少填、不错漏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94360" y="4223385"/>
              <a:ext cx="239039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小程序采集照片、读数与签认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94360" y="4642485"/>
              <a:ext cx="256108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与工单绑定，而非散落在聊天里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393882" y="3658076"/>
              <a:ext cx="2475738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025" b="1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对厂商：看清责任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404360" y="4223385"/>
              <a:ext cx="239039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版本、授权与处置过程可追溯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404360" y="4642485"/>
              <a:ext cx="22197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避免“做过了”却无法复核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203882" y="3658076"/>
              <a:ext cx="2475738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025" b="1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对管理：形成反馈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214360" y="4223385"/>
              <a:ext cx="22197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用同一口径连接时效与成本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214360" y="4642485"/>
              <a:ext cx="22197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找出等待与重复故障的来源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94360" y="5229225"/>
            <a:ext cx="10988040" cy="969169"/>
            <a:chOff x="594360" y="5229225"/>
            <a:chExt cx="10988040" cy="969169"/>
          </a:xfrm>
        </p:grpSpPr>
        <p:sp>
          <p:nvSpPr>
            <p:cNvPr id="28" name="Line 28"/>
            <p:cNvSpPr/>
            <p:nvPr/>
          </p:nvSpPr>
          <p:spPr>
            <a:xfrm>
              <a:off x="609600" y="522922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7E1E7"/>
              </a:solidFill>
            </a:ln>
          </p:spPr>
          <p:txBody>
            <a:bodyPr wrap="none">
              <a:noAutofit/>
            </a:bodyPr>
            <a:p/>
          </p:txBody>
        </p:sp>
        <p:sp>
          <p:nvSpPr>
            <p:cNvPr id="29" name="TextBox 29"/>
            <p:cNvSpPr txBox="1"/>
            <p:nvPr/>
          </p:nvSpPr>
          <p:spPr>
            <a:xfrm>
              <a:off x="594360" y="5556885"/>
              <a:ext cx="64869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边界：最小权限、客户隔离、脱敏和留存先约定；不要求把所有原始数据集中外传。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97218" y="6000274"/>
              <a:ext cx="53571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975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行业方案建议，非公司小程序上线证明；具体数据/跨境安排按项目与适用要求核验。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7" grpId="0"/>
      <p:bldP spid="27" grpId="0"/>
      <p:bldP spid="3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>
            <a:noAutofit/>
          </a:bodyPr>
          <a:p/>
        </p:txBody>
      </p:sp>
      <p:grpSp>
        <p:nvGrpSpPr>
          <p:cNvPr id="6" name="Group 6"/>
          <p:cNvGrpSpPr/>
          <p:nvPr/>
        </p:nvGrpSpPr>
        <p:grpSpPr>
          <a:xfrm>
            <a:off x="596265" y="228600"/>
            <a:ext cx="10998517" cy="6405562"/>
            <a:chOff x="596265" y="228600"/>
            <a:chExt cx="10998517" cy="6405562"/>
          </a:xfrm>
        </p:grpSpPr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515600" y="228600"/>
              <a:ext cx="1066800" cy="409575"/>
            </a:xfrm>
            <a:prstGeom prst="rect">
              <a:avLst/>
            </a:prstGeom>
          </p:spPr>
        </p:pic>
        <p:sp>
          <p:nvSpPr>
            <p:cNvPr id="4" name="TextBox 4"/>
            <p:cNvSpPr txBox="1"/>
            <p:nvPr/>
          </p:nvSpPr>
          <p:spPr>
            <a:xfrm>
              <a:off x="596265" y="6420802"/>
              <a:ext cx="169843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05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历橙 你的能源历程伙伴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998987" y="6428899"/>
              <a:ext cx="5957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/>
              <a:r>
                <a:rPr lang="zh-CN" sz="975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16 / 22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79120" y="353378"/>
            <a:ext cx="6731394" cy="1027747"/>
            <a:chOff x="579120" y="353378"/>
            <a:chExt cx="6731394" cy="1027747"/>
          </a:xfrm>
        </p:grpSpPr>
        <p:sp>
          <p:nvSpPr>
            <p:cNvPr id="7" name="TextBox 7"/>
            <p:cNvSpPr txBox="1"/>
            <p:nvPr/>
          </p:nvSpPr>
          <p:spPr>
            <a:xfrm>
              <a:off x="596265" y="353378"/>
              <a:ext cx="273868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050" dirty="0">
                  <a:solidFill>
                    <a:srgbClr val="087CC1"/>
                  </a:solidFill>
                  <a:latin typeface="Noto Sans CJK SC"/>
                  <a:ea typeface="Noto Sans CJK SC"/>
                  <a:cs typeface="Noto Sans CJK SC"/>
                </a:rPr>
                <a:t>诊断 × 运营 / AI的业务价值与执行边界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79120" y="893445"/>
              <a:ext cx="6989052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400" b="1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AI应缩短判断链路，而不是新增一个告警入口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83882" y="1924526"/>
            <a:ext cx="4304467" cy="3228499"/>
            <a:chOff x="583882" y="1924526"/>
            <a:chExt cx="4304467" cy="3228499"/>
          </a:xfrm>
        </p:grpSpPr>
        <p:sp>
          <p:nvSpPr>
            <p:cNvPr id="10" name="TextBox 10"/>
            <p:cNvSpPr txBox="1"/>
            <p:nvPr/>
          </p:nvSpPr>
          <p:spPr>
            <a:xfrm>
              <a:off x="583882" y="1924526"/>
              <a:ext cx="4491990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025" b="1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优先落在能减轻工程师负担的环节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94360" y="2604135"/>
              <a:ext cx="119557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087CC1"/>
                  </a:solidFill>
                  <a:latin typeface="Noto Sans CJK SC"/>
                  <a:ea typeface="Noto Sans CJK SC"/>
                  <a:cs typeface="Noto Sans CJK SC"/>
                </a:rPr>
                <a:t>相似案例检索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90550" y="2924175"/>
              <a:ext cx="401193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把知识查找时间转化为可验证的排查起点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94360" y="3566160"/>
              <a:ext cx="170764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087CC1"/>
                  </a:solidFill>
                  <a:latin typeface="Noto Sans CJK SC"/>
                  <a:ea typeface="Noto Sans CJK SC"/>
                  <a:cs typeface="Noto Sans CJK SC"/>
                </a:rPr>
                <a:t>候选原因与异常关联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90550" y="3886200"/>
              <a:ext cx="315849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同时给出证据、反证与不确定性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94360" y="4528185"/>
              <a:ext cx="170764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087CC1"/>
                  </a:solidFill>
                  <a:latin typeface="Noto Sans CJK SC"/>
                  <a:ea typeface="Noto Sans CJK SC"/>
                  <a:cs typeface="Noto Sans CJK SC"/>
                </a:rPr>
                <a:t>工单摘要与复盘草稿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90550" y="4848225"/>
              <a:ext cx="358521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减少重复整理，不替代现场事实确认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210300" y="1790700"/>
            <a:ext cx="5372100" cy="3667125"/>
            <a:chOff x="6210300" y="1790700"/>
            <a:chExt cx="5372100" cy="3667125"/>
          </a:xfrm>
        </p:grpSpPr>
        <p:sp>
          <p:nvSpPr>
            <p:cNvPr id="18" name="Rectangle 18"/>
            <p:cNvSpPr/>
            <p:nvPr/>
          </p:nvSpPr>
          <p:spPr>
            <a:xfrm>
              <a:off x="6210300" y="1790700"/>
              <a:ext cx="5372100" cy="3667125"/>
            </a:xfrm>
            <a:prstGeom prst="rect">
              <a:avLst/>
            </a:prstGeom>
            <a:solidFill>
              <a:srgbClr val="EAF3F9"/>
            </a:solidFill>
            <a:ln>
              <a:noFill/>
            </a:ln>
          </p:spPr>
          <p:txBody>
            <a:bodyPr wrap="none">
              <a:noAutofit/>
            </a:bodyPr>
            <a:p/>
          </p:txBody>
        </p:sp>
        <p:sp>
          <p:nvSpPr>
            <p:cNvPr id="19" name="TextBox 19"/>
            <p:cNvSpPr txBox="1"/>
            <p:nvPr/>
          </p:nvSpPr>
          <p:spPr>
            <a:xfrm>
              <a:off x="6460808" y="2038826"/>
              <a:ext cx="2187702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025" b="1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价值如何验证？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471285" y="2708910"/>
              <a:ext cx="22197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每单人工判断时间是否减少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471285" y="3213735"/>
              <a:ext cx="20490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无效派工与误报是否增加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71285" y="3718560"/>
              <a:ext cx="256108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工程师是否愿意采纳，并能解释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6486525" y="4181475"/>
              <a:ext cx="4819650" cy="9525"/>
            </a:xfrm>
            <a:custGeom>
              <a:avLst/>
              <a:gdLst/>
              <a:ahLst/>
              <a:cxnLst/>
              <a:rect l="l" t="t" r="r" b="b"/>
              <a:pathLst>
                <a:path w="4819650" h="9525">
                  <a:moveTo>
                    <a:pt x="0" y="0"/>
                  </a:moveTo>
                  <a:lnTo>
                    <a:pt x="4819650" y="0"/>
                  </a:lnTo>
                </a:path>
              </a:pathLst>
            </a:custGeom>
            <a:noFill/>
            <a:ln w="9525">
              <a:solidFill>
                <a:srgbClr val="D7E1E7"/>
              </a:solidFill>
            </a:ln>
          </p:spPr>
          <p:txBody>
            <a:bodyPr wrap="none">
              <a:noAutofit/>
            </a:bodyPr>
            <a:p/>
          </p:txBody>
        </p:sp>
        <p:sp>
          <p:nvSpPr>
            <p:cNvPr id="24" name="TextBox 24"/>
            <p:cNvSpPr txBox="1"/>
            <p:nvPr/>
          </p:nvSpPr>
          <p:spPr>
            <a:xfrm>
              <a:off x="6464618" y="4404836"/>
              <a:ext cx="237972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725" dirty="0">
                  <a:solidFill>
                    <a:srgbClr val="B94B00"/>
                  </a:solidFill>
                  <a:latin typeface="Noto Sans CJK SC"/>
                  <a:ea typeface="Noto Sans CJK SC"/>
                  <a:cs typeface="Noto Sans CJK SC"/>
                </a:rPr>
                <a:t>不只报告模型准确率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69380" y="4921568"/>
              <a:ext cx="381990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用真实工单对照试点，保留失败和误判样本</a:t>
              </a: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587692" y="5719286"/>
            <a:ext cx="7508075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725" dirty="0">
                <a:solidFill>
                  <a:srgbClr val="142C3A"/>
                </a:solidFill>
                <a:latin typeface="Noto Sans CJK SC"/>
                <a:ea typeface="Noto Sans CJK SC"/>
                <a:cs typeface="Noto Sans CJK SC"/>
              </a:rPr>
              <a:t>工程师复核、厂商授权、安全审批不取消；AI不自动执行设备控制。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97218" y="6095524"/>
            <a:ext cx="487295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975" dirty="0">
                <a:solidFill>
                  <a:srgbClr val="627582"/>
                </a:solidFill>
                <a:latin typeface="Noto Sans CJK SC"/>
                <a:ea typeface="Noto Sans CJK SC"/>
                <a:cs typeface="Noto Sans CJK SC"/>
              </a:rPr>
              <a:t>行业应用分析，无AI已部署或实测改善声明；不罗列客户原始数据索取清单。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7" grpId="0"/>
      <p:bldP spid="2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>
            <a:noAutofit/>
          </a:bodyPr>
          <a:p/>
        </p:txBody>
      </p:sp>
      <p:grpSp>
        <p:nvGrpSpPr>
          <p:cNvPr id="6" name="Group 6"/>
          <p:cNvGrpSpPr/>
          <p:nvPr/>
        </p:nvGrpSpPr>
        <p:grpSpPr>
          <a:xfrm>
            <a:off x="596265" y="228600"/>
            <a:ext cx="10998517" cy="6405562"/>
            <a:chOff x="596265" y="228600"/>
            <a:chExt cx="10998517" cy="6405562"/>
          </a:xfrm>
        </p:grpSpPr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515600" y="228600"/>
              <a:ext cx="1066800" cy="409575"/>
            </a:xfrm>
            <a:prstGeom prst="rect">
              <a:avLst/>
            </a:prstGeom>
          </p:spPr>
        </p:pic>
        <p:sp>
          <p:nvSpPr>
            <p:cNvPr id="4" name="TextBox 4"/>
            <p:cNvSpPr txBox="1"/>
            <p:nvPr/>
          </p:nvSpPr>
          <p:spPr>
            <a:xfrm>
              <a:off x="596265" y="6420802"/>
              <a:ext cx="169843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05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历橙 你的能源历程伙伴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998987" y="6428899"/>
              <a:ext cx="5957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/>
              <a:r>
                <a:rPr lang="zh-CN" sz="975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17 / 22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79120" y="353378"/>
            <a:ext cx="6781800" cy="1027747"/>
            <a:chOff x="579120" y="353378"/>
            <a:chExt cx="6781800" cy="1027747"/>
          </a:xfrm>
        </p:grpSpPr>
        <p:sp>
          <p:nvSpPr>
            <p:cNvPr id="7" name="TextBox 7"/>
            <p:cNvSpPr txBox="1"/>
            <p:nvPr/>
          </p:nvSpPr>
          <p:spPr>
            <a:xfrm>
              <a:off x="596265" y="353378"/>
              <a:ext cx="268655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050" dirty="0">
                  <a:solidFill>
                    <a:srgbClr val="087CC1"/>
                  </a:solidFill>
                  <a:latin typeface="Noto Sans CJK SC"/>
                  <a:ea typeface="Noto Sans CJK SC"/>
                  <a:cs typeface="Noto Sans CJK SC"/>
                </a:rPr>
                <a:t>售后经营 / 用一套事件口径连接三张账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79120" y="893445"/>
              <a:ext cx="6998970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400" b="1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售后管理要同时看服务表现、资产影响与成本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81978" y="1879759"/>
            <a:ext cx="3380422" cy="2416016"/>
            <a:chOff x="581978" y="1879759"/>
            <a:chExt cx="3380422" cy="2416016"/>
          </a:xfrm>
        </p:grpSpPr>
        <p:sp>
          <p:nvSpPr>
            <p:cNvPr id="10" name="TextBox 10"/>
            <p:cNvSpPr txBox="1"/>
            <p:nvPr/>
          </p:nvSpPr>
          <p:spPr>
            <a:xfrm>
              <a:off x="581978" y="1879759"/>
              <a:ext cx="1408938" cy="441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175" b="1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服务表现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09600" y="2419350"/>
              <a:ext cx="3352800" cy="47625"/>
            </a:xfrm>
            <a:prstGeom prst="rect">
              <a:avLst/>
            </a:prstGeom>
            <a:solidFill>
              <a:srgbClr val="087CC1"/>
            </a:solidFill>
            <a:ln>
              <a:noFill/>
            </a:ln>
          </p:spPr>
          <p:txBody>
            <a:bodyPr wrap="none">
              <a:noAutofit/>
            </a:bodyPr>
            <a:p/>
          </p:txBody>
        </p:sp>
        <p:sp>
          <p:nvSpPr>
            <p:cNvPr id="12" name="TextBox 12"/>
            <p:cNvSpPr txBox="1"/>
            <p:nvPr/>
          </p:nvSpPr>
          <p:spPr>
            <a:xfrm>
              <a:off x="594360" y="2861310"/>
              <a:ext cx="239039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响应、到场、恢复的分段时长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94360" y="3308985"/>
              <a:ext cx="239039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重复到场、复发与证据完整性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86740" y="3930015"/>
              <a:ext cx="221970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800" dirty="0">
                  <a:solidFill>
                    <a:srgbClr val="B94B00"/>
                  </a:solidFill>
                  <a:latin typeface="Noto Sans CJK SC"/>
                  <a:ea typeface="Noto Sans CJK SC"/>
                  <a:cs typeface="Noto Sans CJK SC"/>
                </a:rPr>
                <a:t>有没有真正交付？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4391978" y="1879759"/>
            <a:ext cx="3380422" cy="2416016"/>
            <a:chOff x="4391978" y="1879759"/>
            <a:chExt cx="3380422" cy="2416016"/>
          </a:xfrm>
        </p:grpSpPr>
        <p:sp>
          <p:nvSpPr>
            <p:cNvPr id="16" name="TextBox 16"/>
            <p:cNvSpPr txBox="1"/>
            <p:nvPr/>
          </p:nvSpPr>
          <p:spPr>
            <a:xfrm>
              <a:off x="4391978" y="1879759"/>
              <a:ext cx="1408938" cy="441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175" b="1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资产影响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4419600" y="2419350"/>
              <a:ext cx="3352800" cy="47625"/>
            </a:xfrm>
            <a:prstGeom prst="rect">
              <a:avLst/>
            </a:prstGeom>
            <a:solidFill>
              <a:srgbClr val="F58A24"/>
            </a:solidFill>
            <a:ln>
              <a:noFill/>
            </a:ln>
          </p:spPr>
          <p:txBody>
            <a:bodyPr wrap="none">
              <a:noAutofit/>
            </a:bodyPr>
            <a:p/>
          </p:txBody>
        </p:sp>
        <p:sp>
          <p:nvSpPr>
            <p:cNvPr id="18" name="TextBox 18"/>
            <p:cNvSpPr txBox="1"/>
            <p:nvPr/>
          </p:nvSpPr>
          <p:spPr>
            <a:xfrm>
              <a:off x="4404360" y="2861310"/>
              <a:ext cx="22197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全停机与部分降额分开记录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404360" y="3308985"/>
              <a:ext cx="22197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受影响能力与关键运行窗口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396740" y="3930015"/>
              <a:ext cx="221970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800" dirty="0">
                  <a:solidFill>
                    <a:srgbClr val="B94B00"/>
                  </a:solidFill>
                  <a:latin typeface="Noto Sans CJK SC"/>
                  <a:ea typeface="Noto Sans CJK SC"/>
                  <a:cs typeface="Noto Sans CJK SC"/>
                </a:rPr>
                <a:t>客户为什么在乎？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8201978" y="1879759"/>
            <a:ext cx="3380422" cy="2416016"/>
            <a:chOff x="8201978" y="1879759"/>
            <a:chExt cx="3380422" cy="2416016"/>
          </a:xfrm>
        </p:grpSpPr>
        <p:sp>
          <p:nvSpPr>
            <p:cNvPr id="22" name="TextBox 22"/>
            <p:cNvSpPr txBox="1"/>
            <p:nvPr/>
          </p:nvSpPr>
          <p:spPr>
            <a:xfrm>
              <a:off x="8201978" y="1879759"/>
              <a:ext cx="1408938" cy="441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175" b="1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完整成本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8229600" y="2419350"/>
              <a:ext cx="3352800" cy="47625"/>
            </a:xfrm>
            <a:prstGeom prst="rect">
              <a:avLst/>
            </a:prstGeom>
            <a:solidFill>
              <a:srgbClr val="087CC1"/>
            </a:solidFill>
            <a:ln>
              <a:noFill/>
            </a:ln>
          </p:spPr>
          <p:txBody>
            <a:bodyPr wrap="none">
              <a:noAutofit/>
            </a:bodyPr>
            <a:p/>
          </p:txBody>
        </p:sp>
        <p:sp>
          <p:nvSpPr>
            <p:cNvPr id="24" name="TextBox 24"/>
            <p:cNvSpPr txBox="1"/>
            <p:nvPr/>
          </p:nvSpPr>
          <p:spPr>
            <a:xfrm>
              <a:off x="8214360" y="2861310"/>
              <a:ext cx="256108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工时、差旅、物流、备件、返修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214360" y="3308985"/>
              <a:ext cx="20490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重复处置与质保费用回收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206740" y="3930015"/>
              <a:ext cx="196367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800" dirty="0">
                  <a:solidFill>
                    <a:srgbClr val="B94B00"/>
                  </a:solidFill>
                  <a:latin typeface="Noto Sans CJK SC"/>
                  <a:ea typeface="Noto Sans CJK SC"/>
                  <a:cs typeface="Noto Sans CJK SC"/>
                </a:rPr>
                <a:t>服务能否持续？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09600" y="4705350"/>
            <a:ext cx="10972800" cy="1133475"/>
            <a:chOff x="609600" y="4705350"/>
            <a:chExt cx="10972800" cy="1133475"/>
          </a:xfrm>
        </p:grpSpPr>
        <p:sp>
          <p:nvSpPr>
            <p:cNvPr id="28" name="Rectangle 28"/>
            <p:cNvSpPr/>
            <p:nvPr/>
          </p:nvSpPr>
          <p:spPr>
            <a:xfrm>
              <a:off x="609600" y="4705350"/>
              <a:ext cx="10972800" cy="1133475"/>
            </a:xfrm>
            <a:prstGeom prst="rect">
              <a:avLst/>
            </a:prstGeom>
            <a:solidFill>
              <a:srgbClr val="EAF3F9"/>
            </a:solidFill>
            <a:ln>
              <a:noFill/>
            </a:ln>
          </p:spPr>
          <p:txBody>
            <a:bodyPr wrap="none">
              <a:noAutofit/>
            </a:bodyPr>
            <a:p/>
          </p:txBody>
        </p:sp>
        <p:sp>
          <p:nvSpPr>
            <p:cNvPr id="29" name="TextBox 29"/>
            <p:cNvSpPr txBox="1"/>
            <p:nvPr/>
          </p:nvSpPr>
          <p:spPr>
            <a:xfrm>
              <a:off x="814388" y="4922044"/>
              <a:ext cx="763905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875" b="1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只看平均时效，会漏掉长尾；只看单次报价，会漏掉完整成本。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19150" y="5391150"/>
              <a:ext cx="865105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按地区、设备与故障类型分层看P90；不把调度、市场或设备设计影响全部归因于服务方。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5" grpId="0"/>
      <p:bldP spid="21" grpId="0"/>
      <p:bldP spid="27" grpId="0"/>
      <p:bldP spid="3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>
            <a:noAutofit/>
          </a:bodyPr>
          <a:p/>
        </p:txBody>
      </p:sp>
      <p:grpSp>
        <p:nvGrpSpPr>
          <p:cNvPr id="6" name="Group 6"/>
          <p:cNvGrpSpPr/>
          <p:nvPr/>
        </p:nvGrpSpPr>
        <p:grpSpPr>
          <a:xfrm>
            <a:off x="596265" y="228600"/>
            <a:ext cx="10998517" cy="6405562"/>
            <a:chOff x="596265" y="228600"/>
            <a:chExt cx="10998517" cy="6405562"/>
          </a:xfrm>
        </p:grpSpPr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515600" y="228600"/>
              <a:ext cx="1066800" cy="409575"/>
            </a:xfrm>
            <a:prstGeom prst="rect">
              <a:avLst/>
            </a:prstGeom>
          </p:spPr>
        </p:pic>
        <p:sp>
          <p:nvSpPr>
            <p:cNvPr id="4" name="TextBox 4"/>
            <p:cNvSpPr txBox="1"/>
            <p:nvPr/>
          </p:nvSpPr>
          <p:spPr>
            <a:xfrm>
              <a:off x="596265" y="6420802"/>
              <a:ext cx="169843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05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历橙 你的能源历程伙伴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998987" y="6428899"/>
              <a:ext cx="5957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/>
              <a:r>
                <a:rPr lang="zh-CN" sz="975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18 / 22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79120" y="353378"/>
            <a:ext cx="6109716" cy="1027747"/>
            <a:chOff x="579120" y="353378"/>
            <a:chExt cx="6109716" cy="1027747"/>
          </a:xfrm>
        </p:grpSpPr>
        <p:sp>
          <p:nvSpPr>
            <p:cNvPr id="7" name="TextBox 7"/>
            <p:cNvSpPr txBox="1"/>
            <p:nvPr/>
          </p:nvSpPr>
          <p:spPr>
            <a:xfrm>
              <a:off x="596265" y="353378"/>
              <a:ext cx="313461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050" dirty="0">
                  <a:solidFill>
                    <a:srgbClr val="087CC1"/>
                  </a:solidFill>
                  <a:latin typeface="Noto Sans CJK SC"/>
                  <a:ea typeface="Noto Sans CJK SC"/>
                  <a:cs typeface="Noto Sans CJK SC"/>
                </a:rPr>
                <a:t>行业结论 / 从采购覆盖范围，到验证履约能力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79120" y="893445"/>
              <a:ext cx="6316218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400" b="1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采购本地服务，应购买可验证的恢复能力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82930" y="1945005"/>
            <a:ext cx="3287744" cy="2941320"/>
            <a:chOff x="582930" y="1945005"/>
            <a:chExt cx="3287744" cy="2941320"/>
          </a:xfrm>
        </p:grpSpPr>
        <p:sp>
          <p:nvSpPr>
            <p:cNvPr id="10" name="TextBox 10"/>
            <p:cNvSpPr txBox="1"/>
            <p:nvPr/>
          </p:nvSpPr>
          <p:spPr>
            <a:xfrm>
              <a:off x="582930" y="1945005"/>
              <a:ext cx="3158490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100" b="1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看资源：不只看覆盖表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94360" y="2527935"/>
              <a:ext cx="273177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人员资格、可用排期、工具与备件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94360" y="2908935"/>
              <a:ext cx="22197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以及高后果事件的替代路径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82930" y="3678555"/>
              <a:ext cx="345719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100" b="1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看记录：不只看成功故事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94360" y="4261485"/>
              <a:ext cx="290245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历史工单如何处理等待、复发与争议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94360" y="4642485"/>
              <a:ext cx="22197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失败和例外同样需要被看见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219825" y="1800225"/>
            <a:ext cx="5362575" cy="3705225"/>
            <a:chOff x="6219825" y="1800225"/>
            <a:chExt cx="5362575" cy="3705225"/>
          </a:xfrm>
        </p:grpSpPr>
        <p:sp>
          <p:nvSpPr>
            <p:cNvPr id="17" name="Rectangle 17"/>
            <p:cNvSpPr/>
            <p:nvPr/>
          </p:nvSpPr>
          <p:spPr>
            <a:xfrm>
              <a:off x="6219825" y="1800225"/>
              <a:ext cx="5362575" cy="3705225"/>
            </a:xfrm>
            <a:prstGeom prst="rect">
              <a:avLst/>
            </a:prstGeom>
            <a:solidFill>
              <a:srgbClr val="EAF3F9"/>
            </a:solidFill>
            <a:ln>
              <a:noFill/>
            </a:ln>
          </p:spPr>
          <p:txBody>
            <a:bodyPr wrap="none">
              <a:noAutofit/>
            </a:bodyPr>
            <a:p/>
          </p:txBody>
        </p:sp>
        <p:sp>
          <p:nvSpPr>
            <p:cNvPr id="18" name="TextBox 18"/>
            <p:cNvSpPr txBox="1"/>
            <p:nvPr/>
          </p:nvSpPr>
          <p:spPr>
            <a:xfrm>
              <a:off x="6459855" y="2049780"/>
              <a:ext cx="3755898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100" b="1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用一个有代表性的试点验真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471285" y="2737485"/>
              <a:ext cx="68351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087CC1"/>
                  </a:solidFill>
                  <a:latin typeface="Noto Sans CJK SC"/>
                  <a:ea typeface="Noto Sans CJK SC"/>
                  <a:cs typeface="Noto Sans CJK SC"/>
                </a:rPr>
                <a:t>先定义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52385" y="2737485"/>
              <a:ext cx="20490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国家、设备、场景与授权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471285" y="3356610"/>
              <a:ext cx="68351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087CC1"/>
                  </a:solidFill>
                  <a:latin typeface="Noto Sans CJK SC"/>
                  <a:ea typeface="Noto Sans CJK SC"/>
                  <a:cs typeface="Noto Sans CJK SC"/>
                </a:rPr>
                <a:t>再建立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52385" y="3356610"/>
              <a:ext cx="22197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同口径的历史基线与排除项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71285" y="3975735"/>
              <a:ext cx="85420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087CC1"/>
                  </a:solidFill>
                  <a:latin typeface="Noto Sans CJK SC"/>
                  <a:ea typeface="Noto Sans CJK SC"/>
                  <a:cs typeface="Noto Sans CJK SC"/>
                </a:rPr>
                <a:t>最后验收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52385" y="3975735"/>
              <a:ext cx="22197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恢复结果、证据与完整成本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6486525" y="4476750"/>
              <a:ext cx="4829175" cy="9525"/>
            </a:xfrm>
            <a:custGeom>
              <a:avLst/>
              <a:gdLst/>
              <a:ahLst/>
              <a:cxnLst/>
              <a:rect l="l" t="t" r="r" b="b"/>
              <a:pathLst>
                <a:path w="4829175" h="9525">
                  <a:moveTo>
                    <a:pt x="0" y="0"/>
                  </a:moveTo>
                  <a:lnTo>
                    <a:pt x="4829175" y="0"/>
                  </a:lnTo>
                </a:path>
              </a:pathLst>
            </a:custGeom>
            <a:noFill/>
            <a:ln w="9525">
              <a:solidFill>
                <a:srgbClr val="D7E1E7"/>
              </a:solidFill>
            </a:ln>
          </p:spPr>
          <p:txBody>
            <a:bodyPr wrap="none">
              <a:noAutofit/>
            </a:bodyPr>
            <a:p/>
          </p:txBody>
        </p:sp>
        <p:sp>
          <p:nvSpPr>
            <p:cNvPr id="26" name="TextBox 26"/>
            <p:cNvSpPr txBox="1"/>
            <p:nvPr/>
          </p:nvSpPr>
          <p:spPr>
            <a:xfrm>
              <a:off x="6466522" y="4782979"/>
              <a:ext cx="4876038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75" dirty="0">
                  <a:solidFill>
                    <a:srgbClr val="B94B00"/>
                  </a:solidFill>
                  <a:latin typeface="Noto Sans CJK SC"/>
                  <a:ea typeface="Noto Sans CJK SC"/>
                  <a:cs typeface="Noto Sans CJK SC"/>
                </a:rPr>
                <a:t>若没有基线与可比较条件，改善比例就不可信。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586740" y="5749290"/>
            <a:ext cx="836447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800" b="1" dirty="0">
                <a:solidFill>
                  <a:srgbClr val="142C3A"/>
                </a:solidFill>
                <a:latin typeface="Noto Sans CJK SC"/>
                <a:ea typeface="Noto Sans CJK SC"/>
                <a:cs typeface="Noto Sans CJK SC"/>
              </a:rPr>
              <a:t>长期生态的基础，是可验证、可追溯、可兑现，而不是让客户被动依赖。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6" grpId="0"/>
      <p:bldP spid="2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>
            <a:noAutofit/>
          </a:bodyPr>
          <a:p/>
        </p:txBody>
      </p:sp>
      <p:grpSp>
        <p:nvGrpSpPr>
          <p:cNvPr id="6" name="Group 6"/>
          <p:cNvGrpSpPr/>
          <p:nvPr/>
        </p:nvGrpSpPr>
        <p:grpSpPr>
          <a:xfrm>
            <a:off x="596265" y="228600"/>
            <a:ext cx="10998517" cy="6405562"/>
            <a:chOff x="596265" y="228600"/>
            <a:chExt cx="10998517" cy="6405562"/>
          </a:xfrm>
        </p:grpSpPr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515600" y="228600"/>
              <a:ext cx="1066800" cy="409575"/>
            </a:xfrm>
            <a:prstGeom prst="rect">
              <a:avLst/>
            </a:prstGeom>
          </p:spPr>
        </p:pic>
        <p:sp>
          <p:nvSpPr>
            <p:cNvPr id="4" name="TextBox 4"/>
            <p:cNvSpPr txBox="1"/>
            <p:nvPr/>
          </p:nvSpPr>
          <p:spPr>
            <a:xfrm>
              <a:off x="596265" y="6420802"/>
              <a:ext cx="169843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05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历橙 你的能源历程伙伴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998987" y="6428899"/>
              <a:ext cx="5957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/>
              <a:r>
                <a:rPr lang="zh-CN" sz="975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19 / 22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79120" y="353378"/>
            <a:ext cx="6445758" cy="1027747"/>
            <a:chOff x="579120" y="353378"/>
            <a:chExt cx="6445758" cy="1027747"/>
          </a:xfrm>
        </p:grpSpPr>
        <p:sp>
          <p:nvSpPr>
            <p:cNvPr id="7" name="TextBox 7"/>
            <p:cNvSpPr txBox="1"/>
            <p:nvPr/>
          </p:nvSpPr>
          <p:spPr>
            <a:xfrm>
              <a:off x="596265" y="353378"/>
              <a:ext cx="193979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050" dirty="0">
                  <a:solidFill>
                    <a:srgbClr val="087CC1"/>
                  </a:solidFill>
                  <a:latin typeface="Noto Sans CJK SC"/>
                  <a:ea typeface="Noto Sans CJK SC"/>
                  <a:cs typeface="Noto Sans CJK SC"/>
                </a:rPr>
                <a:t>实践补充 / 公司与欧洲布局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79120" y="893445"/>
              <a:ext cx="6657594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400" b="1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历橙：以本地执行与工程支持回应行业问题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83882" y="1915001"/>
            <a:ext cx="3844290" cy="3592830"/>
            <a:chOff x="583882" y="1915001"/>
            <a:chExt cx="3844290" cy="3592830"/>
          </a:xfrm>
        </p:grpSpPr>
        <p:sp>
          <p:nvSpPr>
            <p:cNvPr id="10" name="TextBox 10"/>
            <p:cNvSpPr txBox="1"/>
            <p:nvPr/>
          </p:nvSpPr>
          <p:spPr>
            <a:xfrm>
              <a:off x="583882" y="1915001"/>
              <a:ext cx="3627882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025" b="1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苏州市历橙新能源有限公司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94360" y="2499360"/>
              <a:ext cx="242789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2024年创立，聚焦能源后市场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94360" y="3166110"/>
              <a:ext cx="170764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087CC1"/>
                  </a:solidFill>
                  <a:latin typeface="Noto Sans CJK SC"/>
                  <a:ea typeface="Noto Sans CJK SC"/>
                  <a:cs typeface="Noto Sans CJK SC"/>
                </a:rPr>
                <a:t>欧洲支点：布达佩斯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94360" y="3585210"/>
              <a:ext cx="308318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原稿披露约8,000 m²仓储与维修作业区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94360" y="4251960"/>
              <a:ext cx="307314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087CC1"/>
                  </a:solidFill>
                  <a:latin typeface="Noto Sans CJK SC"/>
                  <a:ea typeface="Noto Sans CJK SC"/>
                  <a:cs typeface="Noto Sans CJK SC"/>
                </a:rPr>
                <a:t>工程支持：现场调测、运维与维修检测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94360" y="4671060"/>
              <a:ext cx="307314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国内技术与服务经验作为工程纵深补充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91502" y="5218271"/>
              <a:ext cx="4225290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425" dirty="0">
                  <a:solidFill>
                    <a:srgbClr val="B94B00"/>
                  </a:solidFill>
                  <a:latin typeface="Noto Sans CJK SC"/>
                  <a:ea typeface="Noto Sans CJK SC"/>
                  <a:cs typeface="Noto Sans CJK SC"/>
                </a:rPr>
                <a:t>具体库存、人员资格及交付边界按项目确认。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198870" y="1847850"/>
            <a:ext cx="5383530" cy="3957638"/>
            <a:chOff x="6198870" y="1847850"/>
            <a:chExt cx="5383530" cy="3957638"/>
          </a:xfrm>
        </p:grpSpPr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19825" y="1847850"/>
              <a:ext cx="5362575" cy="3019425"/>
            </a:xfrm>
            <a:prstGeom prst="rect">
              <a:avLst/>
            </a:prstGeom>
          </p:spPr>
        </p:pic>
        <p:sp>
          <p:nvSpPr>
            <p:cNvPr id="19" name="TextBox 19"/>
            <p:cNvSpPr txBox="1"/>
            <p:nvPr/>
          </p:nvSpPr>
          <p:spPr>
            <a:xfrm>
              <a:off x="6204585" y="5090160"/>
              <a:ext cx="256108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欧洲运营中心｜原公司资料照片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198870" y="5470208"/>
              <a:ext cx="533476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六层是合作框架，不等于全部能力已由一家覆盖。</a:t>
              </a: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597218" y="6028849"/>
            <a:ext cx="659487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975" dirty="0">
                <a:solidFill>
                  <a:srgbClr val="627582"/>
                </a:solidFill>
                <a:latin typeface="Noto Sans CJK SC"/>
                <a:ea typeface="Noto Sans CJK SC"/>
                <a:cs typeface="Noto Sans CJK SC"/>
              </a:rPr>
              <a:t>来源：公司PDF第1、9、14、19—21、27页；公司披露，非独立审计。团队履历不等同于公司成立年限。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7" grpId="0"/>
      <p:bldP spid="2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>
            <a:noAutofit/>
          </a:bodyPr>
          <a:p/>
        </p:txBody>
      </p:sp>
      <p:grpSp>
        <p:nvGrpSpPr>
          <p:cNvPr id="6" name="Group 6"/>
          <p:cNvGrpSpPr/>
          <p:nvPr/>
        </p:nvGrpSpPr>
        <p:grpSpPr>
          <a:xfrm>
            <a:off x="596265" y="228600"/>
            <a:ext cx="10998517" cy="6405562"/>
            <a:chOff x="596265" y="228600"/>
            <a:chExt cx="10998517" cy="6405562"/>
          </a:xfrm>
        </p:grpSpPr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515600" y="228600"/>
              <a:ext cx="1066800" cy="409575"/>
            </a:xfrm>
            <a:prstGeom prst="rect">
              <a:avLst/>
            </a:prstGeom>
          </p:spPr>
        </p:pic>
        <p:sp>
          <p:nvSpPr>
            <p:cNvPr id="4" name="TextBox 4"/>
            <p:cNvSpPr txBox="1"/>
            <p:nvPr/>
          </p:nvSpPr>
          <p:spPr>
            <a:xfrm>
              <a:off x="596265" y="6420802"/>
              <a:ext cx="169843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05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历橙 你的能源历程伙伴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998987" y="6428899"/>
              <a:ext cx="5957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/>
              <a:r>
                <a:rPr lang="zh-CN" sz="975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20 / 22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79120" y="353378"/>
            <a:ext cx="6596977" cy="1027747"/>
            <a:chOff x="579120" y="353378"/>
            <a:chExt cx="6596977" cy="1027747"/>
          </a:xfrm>
        </p:grpSpPr>
        <p:sp>
          <p:nvSpPr>
            <p:cNvPr id="7" name="TextBox 7"/>
            <p:cNvSpPr txBox="1"/>
            <p:nvPr/>
          </p:nvSpPr>
          <p:spPr>
            <a:xfrm>
              <a:off x="596265" y="353378"/>
              <a:ext cx="16410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050" dirty="0">
                  <a:solidFill>
                    <a:srgbClr val="087CC1"/>
                  </a:solidFill>
                  <a:latin typeface="Noto Sans CJK SC"/>
                  <a:ea typeface="Noto Sans CJK SC"/>
                  <a:cs typeface="Noto Sans CJK SC"/>
                </a:rPr>
                <a:t>实践补充 / 欧洲主案例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79120" y="893445"/>
              <a:ext cx="7059728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400" b="1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匈牙利100MWh：看服务范围，也看证据缺口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84835" y="1812332"/>
            <a:ext cx="4025265" cy="3983630"/>
            <a:chOff x="584835" y="1812332"/>
            <a:chExt cx="4025265" cy="3983630"/>
          </a:xfrm>
        </p:grpSpPr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1812332"/>
              <a:ext cx="4000500" cy="2995211"/>
            </a:xfrm>
            <a:prstGeom prst="rect">
              <a:avLst/>
            </a:prstGeom>
          </p:spPr>
        </p:pic>
        <p:sp>
          <p:nvSpPr>
            <p:cNvPr id="11" name="TextBox 11"/>
            <p:cNvSpPr txBox="1"/>
            <p:nvPr/>
          </p:nvSpPr>
          <p:spPr>
            <a:xfrm>
              <a:off x="584835" y="5009198"/>
              <a:ext cx="3460778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950" b="1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光伏配储项目 · 100 MWh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92455" y="5521642"/>
              <a:ext cx="318432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MW功率、业主与服务时间：待补充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166360" y="1911668"/>
            <a:ext cx="6416040" cy="3812857"/>
            <a:chOff x="5166360" y="1911668"/>
            <a:chExt cx="6416040" cy="3812857"/>
          </a:xfrm>
        </p:grpSpPr>
        <p:sp>
          <p:nvSpPr>
            <p:cNvPr id="14" name="TextBox 14"/>
            <p:cNvSpPr txBox="1"/>
            <p:nvPr/>
          </p:nvSpPr>
          <p:spPr>
            <a:xfrm>
              <a:off x="5173980" y="1911668"/>
              <a:ext cx="15156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dirty="0">
                  <a:solidFill>
                    <a:srgbClr val="087CC1"/>
                  </a:solidFill>
                  <a:latin typeface="Noto Sans CJK SC"/>
                  <a:ea typeface="Noto Sans CJK SC"/>
                  <a:cs typeface="Noto Sans CJK SC"/>
                </a:rPr>
                <a:t>原稿记载的工作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166360" y="2351722"/>
              <a:ext cx="2945130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950" b="1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变压器系统诊断与调试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175885" y="2851785"/>
              <a:ext cx="273177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把现场状态判断与调试动作相连接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166360" y="3361372"/>
              <a:ext cx="3476571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950" b="1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PCS校验、通电与功能验证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175885" y="3861435"/>
              <a:ext cx="324383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支持并网准备；结果需项目验收记录确认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191125" y="4438650"/>
              <a:ext cx="6391275" cy="1285875"/>
            </a:xfrm>
            <a:prstGeom prst="rect">
              <a:avLst/>
            </a:prstGeom>
            <a:solidFill>
              <a:srgbClr val="EAF3F9"/>
            </a:solidFill>
            <a:ln>
              <a:noFill/>
            </a:ln>
          </p:spPr>
          <p:txBody>
            <a:bodyPr wrap="none">
              <a:noAutofit/>
            </a:bodyPr>
            <a:p/>
          </p:txBody>
        </p:sp>
        <p:sp>
          <p:nvSpPr>
            <p:cNvPr id="20" name="TextBox 20"/>
            <p:cNvSpPr txBox="1"/>
            <p:nvPr/>
          </p:nvSpPr>
          <p:spPr>
            <a:xfrm>
              <a:off x="5396865" y="4663440"/>
              <a:ext cx="375589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800" b="1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行业视角：案例还需证明什么？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400675" y="5105400"/>
              <a:ext cx="44386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遗留项关闭、恢复条件、验收签认与可比基线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403532" y="5424964"/>
              <a:ext cx="434263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75" dirty="0">
                  <a:solidFill>
                    <a:srgbClr val="B94B00"/>
                  </a:solidFill>
                  <a:latin typeface="Noto Sans CJK SC"/>
                  <a:ea typeface="Noto Sans CJK SC"/>
                  <a:cs typeface="Noto Sans CJK SC"/>
                </a:rPr>
                <a:t>量化成果待补充，不宣称已缩短工期或提升可用率。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597218" y="6028849"/>
            <a:ext cx="488437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975" dirty="0">
                <a:solidFill>
                  <a:srgbClr val="627582"/>
                </a:solidFill>
                <a:latin typeface="Noto Sans CJK SC"/>
                <a:ea typeface="Noto Sans CJK SC"/>
                <a:cs typeface="Noto Sans CJK SC"/>
              </a:rPr>
              <a:t>来源：公司PDF第30页与该页现场照片；容量为原稿能量口径，未独立审计。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3" grpId="0"/>
      <p:bldP spid="2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>
            <a:noAutofit/>
          </a:bodyPr>
          <a:p/>
        </p:txBody>
      </p:sp>
      <p:grpSp>
        <p:nvGrpSpPr>
          <p:cNvPr id="6" name="Group 6"/>
          <p:cNvGrpSpPr/>
          <p:nvPr/>
        </p:nvGrpSpPr>
        <p:grpSpPr>
          <a:xfrm>
            <a:off x="596265" y="228600"/>
            <a:ext cx="10998517" cy="6405562"/>
            <a:chOff x="596265" y="228600"/>
            <a:chExt cx="10998517" cy="6405562"/>
          </a:xfrm>
        </p:grpSpPr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515600" y="228600"/>
              <a:ext cx="1066800" cy="409575"/>
            </a:xfrm>
            <a:prstGeom prst="rect">
              <a:avLst/>
            </a:prstGeom>
          </p:spPr>
        </p:pic>
        <p:sp>
          <p:nvSpPr>
            <p:cNvPr id="4" name="TextBox 4"/>
            <p:cNvSpPr txBox="1"/>
            <p:nvPr/>
          </p:nvSpPr>
          <p:spPr>
            <a:xfrm>
              <a:off x="596265" y="6420802"/>
              <a:ext cx="169843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05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历橙 你的能源历程伙伴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998987" y="6428899"/>
              <a:ext cx="5957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/>
              <a:r>
                <a:rPr lang="zh-CN" sz="975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21 / 22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79120" y="353378"/>
            <a:ext cx="6781800" cy="1027747"/>
            <a:chOff x="579120" y="353378"/>
            <a:chExt cx="6781800" cy="1027747"/>
          </a:xfrm>
        </p:grpSpPr>
        <p:sp>
          <p:nvSpPr>
            <p:cNvPr id="7" name="TextBox 7"/>
            <p:cNvSpPr txBox="1"/>
            <p:nvPr/>
          </p:nvSpPr>
          <p:spPr>
            <a:xfrm>
              <a:off x="596265" y="353378"/>
              <a:ext cx="17904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050" dirty="0">
                  <a:solidFill>
                    <a:srgbClr val="087CC1"/>
                  </a:solidFill>
                  <a:latin typeface="Noto Sans CJK SC"/>
                  <a:ea typeface="Noto Sans CJK SC"/>
                  <a:cs typeface="Noto Sans CJK SC"/>
                </a:rPr>
                <a:t>实践补充 / 三个欧洲项目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79120" y="893445"/>
              <a:ext cx="6998970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400" b="1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三个补充案例：不同场景，需要不同现场能力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85788" y="1550194"/>
            <a:ext cx="3376612" cy="4271962"/>
            <a:chOff x="585788" y="1550194"/>
            <a:chExt cx="3376612" cy="4271962"/>
          </a:xfrm>
        </p:grpSpPr>
        <p:sp>
          <p:nvSpPr>
            <p:cNvPr id="10" name="TextBox 10"/>
            <p:cNvSpPr txBox="1"/>
            <p:nvPr/>
          </p:nvSpPr>
          <p:spPr>
            <a:xfrm>
              <a:off x="585788" y="1550194"/>
              <a:ext cx="2800862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875" b="1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保加利亚 · 100 MWh</a:t>
              </a:r>
            </a:p>
          </p:txBody>
        </p:sp>
        <p:pic>
          <p:nvPicPr>
            <p:cNvPr id="11" name="Image 1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1981200"/>
              <a:ext cx="3352800" cy="2514600"/>
            </a:xfrm>
            <a:prstGeom prst="rect">
              <a:avLst/>
            </a:prstGeom>
          </p:spPr>
        </p:pic>
        <p:sp>
          <p:nvSpPr>
            <p:cNvPr id="12" name="TextBox 12"/>
            <p:cNvSpPr txBox="1"/>
            <p:nvPr/>
          </p:nvSpPr>
          <p:spPr>
            <a:xfrm>
              <a:off x="586740" y="4730115"/>
              <a:ext cx="294679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800" dirty="0">
                  <a:solidFill>
                    <a:srgbClr val="B94B00"/>
                  </a:solidFill>
                  <a:latin typeface="Noto Sans CJK SC"/>
                  <a:ea typeface="Noto Sans CJK SC"/>
                  <a:cs typeface="Noto Sans CJK SC"/>
                </a:rPr>
                <a:t>光伏配储 / 液冷专项维护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94360" y="5194935"/>
              <a:ext cx="20490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设备状态检查与异常排查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91502" y="5532596"/>
              <a:ext cx="3009138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425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待补：检查项、关闭与验收记录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4395788" y="1550194"/>
            <a:ext cx="3376612" cy="4271962"/>
            <a:chOff x="4395788" y="1550194"/>
            <a:chExt cx="3376612" cy="4271962"/>
          </a:xfrm>
        </p:grpSpPr>
        <p:sp>
          <p:nvSpPr>
            <p:cNvPr id="16" name="TextBox 16"/>
            <p:cNvSpPr txBox="1"/>
            <p:nvPr/>
          </p:nvSpPr>
          <p:spPr>
            <a:xfrm>
              <a:off x="4395788" y="1550194"/>
              <a:ext cx="2267462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875" b="1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波兰 · 115 MWh</a:t>
              </a:r>
            </a:p>
          </p:txBody>
        </p:sp>
        <p:pic>
          <p:nvPicPr>
            <p:cNvPr id="17" name="Image 1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419600" y="1981200"/>
              <a:ext cx="3352800" cy="2514600"/>
            </a:xfrm>
            <a:prstGeom prst="rect">
              <a:avLst/>
            </a:prstGeom>
          </p:spPr>
        </p:pic>
        <p:sp>
          <p:nvSpPr>
            <p:cNvPr id="18" name="TextBox 18"/>
            <p:cNvSpPr txBox="1"/>
            <p:nvPr/>
          </p:nvSpPr>
          <p:spPr>
            <a:xfrm>
              <a:off x="4396740" y="4730115"/>
              <a:ext cx="243473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800" dirty="0">
                  <a:solidFill>
                    <a:srgbClr val="B94B00"/>
                  </a:solidFill>
                  <a:latin typeface="Noto Sans CJK SC"/>
                  <a:ea typeface="Noto Sans CJK SC"/>
                  <a:cs typeface="Noto Sans CJK SC"/>
                </a:rPr>
                <a:t>储能项目 / 设备维护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404360" y="5194935"/>
              <a:ext cx="20490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柜体结构损伤的钣金修复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401502" y="5532596"/>
              <a:ext cx="3009138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425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待补：服务范围与维修验收记录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8205788" y="1550194"/>
            <a:ext cx="3376612" cy="4271962"/>
            <a:chOff x="8205788" y="1550194"/>
            <a:chExt cx="3376612" cy="4271962"/>
          </a:xfrm>
        </p:grpSpPr>
        <p:sp>
          <p:nvSpPr>
            <p:cNvPr id="22" name="TextBox 22"/>
            <p:cNvSpPr txBox="1"/>
            <p:nvPr/>
          </p:nvSpPr>
          <p:spPr>
            <a:xfrm>
              <a:off x="8205788" y="1550194"/>
              <a:ext cx="2426148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875" b="1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荷兰 · 容量待补充</a:t>
              </a:r>
            </a:p>
          </p:txBody>
        </p:sp>
        <p:pic>
          <p:nvPicPr>
            <p:cNvPr id="23" name="Image 2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229600" y="1981200"/>
              <a:ext cx="3352800" cy="2514600"/>
            </a:xfrm>
            <a:prstGeom prst="rect">
              <a:avLst/>
            </a:prstGeom>
          </p:spPr>
        </p:pic>
        <p:sp>
          <p:nvSpPr>
            <p:cNvPr id="24" name="TextBox 24"/>
            <p:cNvSpPr txBox="1"/>
            <p:nvPr/>
          </p:nvSpPr>
          <p:spPr>
            <a:xfrm>
              <a:off x="8206740" y="4730115"/>
              <a:ext cx="264980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800" dirty="0">
                  <a:solidFill>
                    <a:srgbClr val="B94B00"/>
                  </a:solidFill>
                  <a:latin typeface="Noto Sans CJK SC"/>
                  <a:ea typeface="Noto Sans CJK SC"/>
                  <a:cs typeface="Noto Sans CJK SC"/>
                </a:rPr>
                <a:t>工商业储能 / PCS恢复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214360" y="5194935"/>
              <a:ext cx="22197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故障诊断、模块更换与调试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211502" y="5532596"/>
              <a:ext cx="3009138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425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待补：恢复时长、复测与观察期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597218" y="6038374"/>
            <a:ext cx="622474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975" dirty="0">
                <a:solidFill>
                  <a:srgbClr val="627582"/>
                </a:solidFill>
                <a:latin typeface="Noto Sans CJK SC"/>
                <a:ea typeface="Noto Sans CJK SC"/>
                <a:cs typeface="Noto Sans CJK SC"/>
              </a:rPr>
              <a:t>来源：公司PDF第29页；“20+场站维护”与波兰单项目的统计关系待核验，不据此推导量化改善。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21" grpId="0"/>
      <p:bldP spid="2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>
            <a:noAutofit/>
          </a:bodyPr>
          <a:p/>
        </p:txBody>
      </p:sp>
      <p:grpSp>
        <p:nvGrpSpPr>
          <p:cNvPr id="6" name="Group 6"/>
          <p:cNvGrpSpPr/>
          <p:nvPr/>
        </p:nvGrpSpPr>
        <p:grpSpPr>
          <a:xfrm>
            <a:off x="596265" y="228600"/>
            <a:ext cx="10998517" cy="6405562"/>
            <a:chOff x="596265" y="228600"/>
            <a:chExt cx="10998517" cy="6405562"/>
          </a:xfrm>
        </p:grpSpPr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515600" y="228600"/>
              <a:ext cx="1066800" cy="409575"/>
            </a:xfrm>
            <a:prstGeom prst="rect">
              <a:avLst/>
            </a:prstGeom>
          </p:spPr>
        </p:pic>
        <p:sp>
          <p:nvSpPr>
            <p:cNvPr id="4" name="TextBox 4"/>
            <p:cNvSpPr txBox="1"/>
            <p:nvPr/>
          </p:nvSpPr>
          <p:spPr>
            <a:xfrm>
              <a:off x="596265" y="6420802"/>
              <a:ext cx="169843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05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历橙 你的能源历程伙伴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998987" y="6428899"/>
              <a:ext cx="5957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/>
              <a:r>
                <a:rPr lang="zh-CN" sz="975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22 / 22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65785" y="353378"/>
            <a:ext cx="4935426" cy="2713672"/>
            <a:chOff x="565785" y="353378"/>
            <a:chExt cx="4935426" cy="2713672"/>
          </a:xfrm>
        </p:grpSpPr>
        <p:sp>
          <p:nvSpPr>
            <p:cNvPr id="7" name="TextBox 7"/>
            <p:cNvSpPr txBox="1"/>
            <p:nvPr/>
          </p:nvSpPr>
          <p:spPr>
            <a:xfrm>
              <a:off x="596265" y="353378"/>
              <a:ext cx="22385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050" dirty="0">
                  <a:solidFill>
                    <a:srgbClr val="087CC1"/>
                  </a:solidFill>
                  <a:latin typeface="Noto Sans CJK SC"/>
                  <a:ea typeface="Noto Sans CJK SC"/>
                  <a:cs typeface="Noto Sans CJK SC"/>
                </a:rPr>
                <a:t>结语 / 从行业判断回到合作验证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69595" y="1507808"/>
              <a:ext cx="5100066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150" b="1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从一个边界清楚的项目，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65785" y="2199322"/>
              <a:ext cx="4588002" cy="701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450" b="1" dirty="0">
                  <a:solidFill>
                    <a:srgbClr val="B94B00"/>
                  </a:solidFill>
                  <a:latin typeface="Noto Sans CJK SC"/>
                  <a:ea typeface="Noto Sans CJK SC"/>
                  <a:cs typeface="Noto Sans CJK SC"/>
                </a:rPr>
                <a:t>验证长期服务价值。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609600" y="3009900"/>
              <a:ext cx="1295400" cy="57150"/>
            </a:xfrm>
            <a:prstGeom prst="rect">
              <a:avLst/>
            </a:prstGeom>
            <a:solidFill>
              <a:srgbClr val="087CC1"/>
            </a:solidFill>
            <a:ln>
              <a:noFill/>
            </a:ln>
          </p:spPr>
          <p:txBody>
            <a:bodyPr wrap="none">
              <a:noAutofit/>
            </a:bodyPr>
            <a:p/>
          </p:txBody>
        </p:sp>
      </p:grpSp>
      <p:grpSp>
        <p:nvGrpSpPr>
          <p:cNvPr id="20" name="Group 20"/>
          <p:cNvGrpSpPr/>
          <p:nvPr/>
        </p:nvGrpSpPr>
        <p:grpSpPr>
          <a:xfrm>
            <a:off x="584835" y="3513772"/>
            <a:ext cx="9355836" cy="1972628"/>
            <a:chOff x="584835" y="3513772"/>
            <a:chExt cx="9355836" cy="1972628"/>
          </a:xfrm>
        </p:grpSpPr>
        <p:sp>
          <p:nvSpPr>
            <p:cNvPr id="12" name="TextBox 12"/>
            <p:cNvSpPr txBox="1"/>
            <p:nvPr/>
          </p:nvSpPr>
          <p:spPr>
            <a:xfrm>
              <a:off x="584835" y="3513772"/>
              <a:ext cx="3222498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950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物流与仓储，让资源可得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84835" y="4066222"/>
              <a:ext cx="3222498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950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诊断与维修，让恢复可验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84835" y="4618672"/>
              <a:ext cx="4054602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950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运营与资产流通，让价值可持续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6943725" y="3514725"/>
              <a:ext cx="171450" cy="1924050"/>
            </a:xfrm>
            <a:custGeom>
              <a:avLst/>
              <a:gdLst/>
              <a:ahLst/>
              <a:cxnLst/>
              <a:rect l="l" t="t" r="r" b="b"/>
              <a:pathLst>
                <a:path w="9525" h="1924050">
                  <a:moveTo>
                    <a:pt x="0" y="0"/>
                  </a:moveTo>
                  <a:lnTo>
                    <a:pt x="0" y="1924050"/>
                  </a:lnTo>
                </a:path>
              </a:pathLst>
            </a:custGeom>
            <a:noFill/>
            <a:ln w="9525">
              <a:solidFill>
                <a:srgbClr val="D7E1E7"/>
              </a:solidFill>
            </a:ln>
          </p:spPr>
          <p:txBody>
            <a:bodyPr wrap="none">
              <a:noAutofit/>
            </a:bodyPr>
            <a:p>
              <a:pPr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453312" y="3531394"/>
              <a:ext cx="150495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875" dirty="0">
                  <a:solidFill>
                    <a:srgbClr val="087CC1"/>
                  </a:solidFill>
                  <a:latin typeface="Noto Sans CJK SC"/>
                  <a:ea typeface="Noto Sans CJK SC"/>
                  <a:cs typeface="Noto Sans CJK SC"/>
                </a:rPr>
                <a:t>合作先明确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461885" y="4156710"/>
              <a:ext cx="267726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国家与设备 / 关键故障 / 授权边界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461885" y="4652010"/>
              <a:ext cx="250657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627582"/>
                  </a:solidFill>
                  <a:latin typeface="Noto Sans CJK SC"/>
                  <a:ea typeface="Noto Sans CJK SC"/>
                  <a:cs typeface="Noto Sans CJK SC"/>
                </a:rPr>
                <a:t>历史基线 / 恢复标准 / 验收证据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458075" y="5181600"/>
              <a:ext cx="273177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00" dirty="0">
                  <a:solidFill>
                    <a:srgbClr val="142C3A"/>
                  </a:solidFill>
                  <a:latin typeface="Noto Sans CJK SC"/>
                  <a:ea typeface="Noto Sans CJK SC"/>
                  <a:cs typeface="Noto Sans CJK SC"/>
                </a:rPr>
                <a:t>苏州市历橙新能源有限公司</a:t>
              </a: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586740" y="5739765"/>
            <a:ext cx="785241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800" dirty="0">
                <a:solidFill>
                  <a:srgbClr val="627582"/>
                </a:solidFill>
                <a:latin typeface="Noto Sans CJK SC"/>
                <a:ea typeface="Noto Sans CJK SC"/>
                <a:cs typeface="Noto Sans CJK SC"/>
              </a:rPr>
              <a:t>真正的服务生态，不是增加环节，而是减少全生命周期的不确定性。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1" grpId="0"/>
      <p:bldP spid="20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